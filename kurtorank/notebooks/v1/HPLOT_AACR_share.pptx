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2.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heme/theme3.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comments/modernComment_102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5"/>
    <p:sldMasterId id="2147483656" r:id="rId6"/>
  </p:sldMasterIdLst>
  <p:notesMasterIdLst>
    <p:notesMasterId r:id="rId8"/>
  </p:notesMasterIdLst>
  <p:sldIdLst>
    <p:sldId id="258" r:id="rId7"/>
  </p:sldIdLst>
  <p:sldSz cx="43891200" cy="32918400"/>
  <p:notesSz cx="37261800" cy="51206400"/>
  <p:custDataLst>
    <p:tags r:id="rId9"/>
  </p:custDataLst>
  <p:defaultTextStyle>
    <a:defPPr>
      <a:defRPr lang="en-US"/>
    </a:defPPr>
    <a:lvl1pPr algn="l" rtl="0" eaLnBrk="0" fontAlgn="base" hangingPunct="0">
      <a:spcBef>
        <a:spcPct val="0"/>
      </a:spcBef>
      <a:spcAft>
        <a:spcPct val="0"/>
      </a:spcAft>
      <a:defRPr sz="8064" kern="1200">
        <a:solidFill>
          <a:schemeClr val="tx1"/>
        </a:solidFill>
        <a:latin typeface="Times New Roman" panose="02020603050405020304" pitchFamily="18" charset="0"/>
        <a:ea typeface="+mn-ea"/>
        <a:cs typeface="+mn-cs"/>
      </a:defRPr>
    </a:lvl1pPr>
    <a:lvl2pPr marL="1536095" algn="l" rtl="0" eaLnBrk="0" fontAlgn="base" hangingPunct="0">
      <a:spcBef>
        <a:spcPct val="0"/>
      </a:spcBef>
      <a:spcAft>
        <a:spcPct val="0"/>
      </a:spcAft>
      <a:defRPr sz="8064" kern="1200">
        <a:solidFill>
          <a:schemeClr val="tx1"/>
        </a:solidFill>
        <a:latin typeface="Times New Roman" panose="02020603050405020304" pitchFamily="18" charset="0"/>
        <a:ea typeface="+mn-ea"/>
        <a:cs typeface="+mn-cs"/>
      </a:defRPr>
    </a:lvl2pPr>
    <a:lvl3pPr marL="3072186" algn="l" rtl="0" eaLnBrk="0" fontAlgn="base" hangingPunct="0">
      <a:spcBef>
        <a:spcPct val="0"/>
      </a:spcBef>
      <a:spcAft>
        <a:spcPct val="0"/>
      </a:spcAft>
      <a:defRPr sz="8064" kern="1200">
        <a:solidFill>
          <a:schemeClr val="tx1"/>
        </a:solidFill>
        <a:latin typeface="Times New Roman" panose="02020603050405020304" pitchFamily="18" charset="0"/>
        <a:ea typeface="+mn-ea"/>
        <a:cs typeface="+mn-cs"/>
      </a:defRPr>
    </a:lvl3pPr>
    <a:lvl4pPr marL="4608280" algn="l" rtl="0" eaLnBrk="0" fontAlgn="base" hangingPunct="0">
      <a:spcBef>
        <a:spcPct val="0"/>
      </a:spcBef>
      <a:spcAft>
        <a:spcPct val="0"/>
      </a:spcAft>
      <a:defRPr sz="8064" kern="1200">
        <a:solidFill>
          <a:schemeClr val="tx1"/>
        </a:solidFill>
        <a:latin typeface="Times New Roman" panose="02020603050405020304" pitchFamily="18" charset="0"/>
        <a:ea typeface="+mn-ea"/>
        <a:cs typeface="+mn-cs"/>
      </a:defRPr>
    </a:lvl4pPr>
    <a:lvl5pPr marL="6144375" algn="l" rtl="0" eaLnBrk="0" fontAlgn="base" hangingPunct="0">
      <a:spcBef>
        <a:spcPct val="0"/>
      </a:spcBef>
      <a:spcAft>
        <a:spcPct val="0"/>
      </a:spcAft>
      <a:defRPr sz="8064" kern="1200">
        <a:solidFill>
          <a:schemeClr val="tx1"/>
        </a:solidFill>
        <a:latin typeface="Times New Roman" panose="02020603050405020304" pitchFamily="18" charset="0"/>
        <a:ea typeface="+mn-ea"/>
        <a:cs typeface="+mn-cs"/>
      </a:defRPr>
    </a:lvl5pPr>
    <a:lvl6pPr marL="7680469" algn="l" defTabSz="3072186" rtl="0" eaLnBrk="1" latinLnBrk="0" hangingPunct="1">
      <a:defRPr sz="8064" kern="1200">
        <a:solidFill>
          <a:schemeClr val="tx1"/>
        </a:solidFill>
        <a:latin typeface="Times New Roman" panose="02020603050405020304" pitchFamily="18" charset="0"/>
        <a:ea typeface="+mn-ea"/>
        <a:cs typeface="+mn-cs"/>
      </a:defRPr>
    </a:lvl6pPr>
    <a:lvl7pPr marL="9216561" algn="l" defTabSz="3072186" rtl="0" eaLnBrk="1" latinLnBrk="0" hangingPunct="1">
      <a:defRPr sz="8064" kern="1200">
        <a:solidFill>
          <a:schemeClr val="tx1"/>
        </a:solidFill>
        <a:latin typeface="Times New Roman" panose="02020603050405020304" pitchFamily="18" charset="0"/>
        <a:ea typeface="+mn-ea"/>
        <a:cs typeface="+mn-cs"/>
      </a:defRPr>
    </a:lvl7pPr>
    <a:lvl8pPr marL="10752655" algn="l" defTabSz="3072186" rtl="0" eaLnBrk="1" latinLnBrk="0" hangingPunct="1">
      <a:defRPr sz="8064" kern="1200">
        <a:solidFill>
          <a:schemeClr val="tx1"/>
        </a:solidFill>
        <a:latin typeface="Times New Roman" panose="02020603050405020304" pitchFamily="18" charset="0"/>
        <a:ea typeface="+mn-ea"/>
        <a:cs typeface="+mn-cs"/>
      </a:defRPr>
    </a:lvl8pPr>
    <a:lvl9pPr marL="12288750" algn="l" defTabSz="3072186" rtl="0" eaLnBrk="1" latinLnBrk="0" hangingPunct="1">
      <a:defRPr sz="8064"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3041" userDrawn="1">
          <p15:clr>
            <a:srgbClr val="A4A3A4"/>
          </p15:clr>
        </p15:guide>
        <p15:guide id="2" pos="472" userDrawn="1">
          <p15:clr>
            <a:srgbClr val="A4A3A4"/>
          </p15:clr>
        </p15:guide>
        <p15:guide id="3" orient="horz" pos="19215" userDrawn="1">
          <p15:clr>
            <a:srgbClr val="A4A3A4"/>
          </p15:clr>
        </p15:guide>
        <p15:guide id="4" pos="27176" userDrawn="1">
          <p15:clr>
            <a:srgbClr val="A4A3A4"/>
          </p15:clr>
        </p15:guide>
        <p15:guide id="5" pos="8847" userDrawn="1">
          <p15:clr>
            <a:srgbClr val="A4A3A4"/>
          </p15:clr>
        </p15:guide>
        <p15:guide id="6" pos="9585" userDrawn="1">
          <p15:clr>
            <a:srgbClr val="A4A3A4"/>
          </p15:clr>
        </p15:guide>
        <p15:guide id="9" pos="18063" userDrawn="1">
          <p15:clr>
            <a:srgbClr val="A4A3A4"/>
          </p15:clr>
        </p15:guide>
        <p15:guide id="10" pos="1880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DD88308-4B4B-A1C3-4BF8-8B62B1E9B983}" name="Saul, Michelle" initials="MS" userId="S::SAULM01@pfizer.com::e569c6b9-f938-4afa-88b3-23c954612667" providerId="AD"/>
  <p188:author id="{80654F09-7895-821A-8DDC-44055C8F2999}" name="Fernandez, Diane" initials="DF" userId="S::FERNAD33@pfizer.com::0f73bf5e-e211-45c6-8596-cf16dea29e4f" providerId="AD"/>
  <p188:author id="{261A7A24-D1C8-DE05-42F9-BA438BA63CCA}" name="Huang, Chao-Hui" initials="" userId="S::HUANGC78@pfizer.com::d994c17f-b0be-4fb7-a85e-794e4073ab33" providerId="AD"/>
  <p188:author id="{7C9AF44B-F14C-FD4D-B98C-F13B8F51350A}" name="Nameki, Robbin" initials="RR" userId="S::RUTHER03@pfizer.com::231e1d6b-6e4c-465a-9fce-29405f3c2757" providerId="AD"/>
  <p188:author id="{C07CC751-4F63-784F-E8B3-749943F53175}" name="Ching, Keith" initials="CK" userId="S::chingk@pfizer.com::d8c261e4-f325-49a5-83fc-ac800e7b51c6" providerId="AD"/>
  <p188:author id="{90CB846E-2BB9-05B8-FA4B-E9F4AB09DED0}" name="Huang, Chao-Hui" initials="HC" userId="S::huangc78@pfizer.com::d994c17f-b0be-4fb7-a85e-794e4073ab33" providerId="AD"/>
  <p188:author id="{5150AF95-7C2E-40AF-CB87-29C620AD6261}" name="Tekman, Mehmet" initials="" userId="S::TEKMAM@pfizer.com::52e585c8-689b-4806-94ee-efc2e9f53993" providerId="AD"/>
  <p188:author id="{36DE0E98-CC83-B426-7958-B2E4E25A9820}" name="Lin, Gloria" initials="HL" userId="S::LINH62@pfizer.com::2faa719f-359d-4157-90a9-0a2379e2b9e1" providerId="AD"/>
  <p188:author id="{E65742A4-0064-0028-9671-48FDB3F646DE}" name="daviscb1" initials="da" userId="S::daviscb1_gmail.com#ext#@pfizer.onmicrosoft.com::41b2648e-ae94-4583-87d5-e4f6c4713288" providerId="AD"/>
  <p188:author id="{CDD8FFA9-248C-7B29-D8DC-CD6CD52CD39E}" name="arne.schmidt" initials="ar" userId="S::arne.schmidt_aignostics.com#ext#@pfizer.onmicrosoft.com::d2b1525d-5624-46da-a843-841705712b12" providerId="AD"/>
  <p188:author id="{A39F35E0-C765-B115-3CCA-1420E1F1C66B}" name="Greg Szeto" initials="GLS" userId="Greg Szeto" providerId="None"/>
  <p188:author id="{B8A47DF0-C908-8ED0-F478-CCDDBAE7EF00}" name="Fernandez, Diane" initials="FD" userId="S::fernad33@pfizer.com::0f73bf5e-e211-45c6-8596-cf16dea29e4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E0E0"/>
    <a:srgbClr val="0088CE"/>
    <a:srgbClr val="2376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26"/>
    <p:restoredTop sz="94661"/>
  </p:normalViewPr>
  <p:slideViewPr>
    <p:cSldViewPr snapToGrid="0">
      <p:cViewPr>
        <p:scale>
          <a:sx n="79" d="100"/>
          <a:sy n="79" d="100"/>
        </p:scale>
        <p:origin x="-2424" y="-1592"/>
      </p:cViewPr>
      <p:guideLst>
        <p:guide orient="horz" pos="3041"/>
        <p:guide pos="472"/>
        <p:guide orient="horz" pos="19215"/>
        <p:guide pos="27176"/>
        <p:guide pos="8847"/>
        <p:guide pos="9585"/>
        <p:guide pos="18063"/>
        <p:guide pos="1880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viewProps" Target="viewProps.xml"/><Relationship Id="rId5" Type="http://schemas.openxmlformats.org/officeDocument/2006/relationships/slideMaster" Target="slideMasters/slideMaster1.xml"/><Relationship Id="rId1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tags" Target="tags/tag1.xml"/><Relationship Id="rId14" Type="http://schemas.microsoft.com/office/2018/10/relationships/authors" Target="authors.xml"/></Relationships>
</file>

<file path=ppt/comments/modernComment_102_0.xml><?xml version="1.0" encoding="utf-8"?>
<p188:cmLst xmlns:a="http://schemas.openxmlformats.org/drawingml/2006/main" xmlns:r="http://schemas.openxmlformats.org/officeDocument/2006/relationships" xmlns:p188="http://schemas.microsoft.com/office/powerpoint/2018/8/main">
  <p188:cm id="{F302D7E5-62FD-476C-8E75-ABB1A63F38AD}" authorId="{B8A47DF0-C908-8ED0-F478-CCDDBAE7EF00}" created="2026-03-10T18:26:17.146">
    <ac:txMkLst xmlns:ac="http://schemas.microsoft.com/office/drawing/2013/main/command">
      <pc:docMk xmlns:pc="http://schemas.microsoft.com/office/powerpoint/2013/main/command"/>
      <pc:sldMk xmlns:pc="http://schemas.microsoft.com/office/powerpoint/2013/main/command" cId="0" sldId="258"/>
      <ac:spMk id="3167" creationId="{57A49F5A-A4D2-D607-CAE0-CC259FDA1B4A}"/>
      <ac:txMk cp="54" len="11">
        <ac:context len="205" hash="277993913"/>
      </ac:txMk>
    </ac:txMkLst>
    <p188:pos x="10089931" y="1807779"/>
    <p188:replyLst>
      <p188:reply id="{51712620-AF84-E240-99E0-3C199EA7656A}" authorId="{261A7A24-D1C8-DE05-42F9-BA438BA63CCA}" created="2026-03-10T20:18:08.036">
        <p188:txBody>
          <a:bodyPr/>
          <a:lstStyle/>
          <a:p>
            <a:r>
              <a:rPr lang="en-US"/>
              <a:t>I didn't see it here?
</a:t>
            </a:r>
          </a:p>
        </p188:txBody>
      </p188:reply>
      <p188:reply id="{7442B762-E694-47A9-80C9-8008D288F6CA}" authorId="{80654F09-7895-821A-8DDC-44055C8F2999}" created="2026-03-10T23:04:11.485">
        <p188:txBody>
          <a:bodyPr/>
          <a:lstStyle/>
          <a:p>
            <a:r>
              <a:rPr lang="en-US"/>
              <a:t>My bad, it may have been the resolution of my screen. I am plugged into larger screens now and don’t see it. </a:t>
            </a:r>
          </a:p>
        </p188:txBody>
      </p188:reply>
    </p188:replyLst>
    <p188:txBody>
      <a:bodyPr/>
      <a:lstStyle/>
      <a:p>
        <a:r>
          <a:rPr lang="en-US"/>
          <a:t>why is identified crossed out?</a:t>
        </a:r>
      </a:p>
    </p188:txBody>
    <p188:extLst>
      <p:ext xmlns:p="http://schemas.openxmlformats.org/presentationml/2006/main" uri="{57CB4572-C831-44C2-8A1C-0ADB6CCDFE69}">
        <p223:reactions xmlns:p223="http://schemas.microsoft.com/office/powerpoint/2022/03/main">
          <p223:rxn type="👍">
            <p223:instance time="2026-03-10T20:19:26.973" authorId="{261A7A24-D1C8-DE05-42F9-BA438BA63CCA}"/>
          </p223:rxn>
        </p223:reactions>
      </p:ext>
    </p188:extLst>
  </p188:cm>
  <p188:cm id="{1112C808-FAD0-4706-85E7-034ED6397296}" authorId="{E65742A4-0064-0028-9671-48FDB3F646DE}" created="2026-03-10T20:28:15.527">
    <pc:sldMkLst xmlns:pc="http://schemas.microsoft.com/office/powerpoint/2013/main/command">
      <pc:docMk/>
      <pc:sldMk cId="0" sldId="258"/>
    </pc:sldMkLst>
    <p188:txBody>
      <a:bodyPr/>
      <a:lstStyle/>
      <a:p>
        <a:r>
          <a:rPr lang="en-US"/>
          <a:t>Check y-axes.  Is "proposion" supposed to be proportion?</a:t>
        </a:r>
      </a:p>
    </p188:txBody>
    <p188:extLst>
      <p:ext xmlns:p="http://schemas.openxmlformats.org/presentationml/2006/main" uri="{57CB4572-C831-44C2-8A1C-0ADB6CCDFE69}">
        <p223:reactions xmlns:p223="http://schemas.microsoft.com/office/powerpoint/2022/03/main">
          <p223:rxn type="👍">
            <p223:instance time="2026-03-10T22:59:33.510" authorId="{261A7A24-D1C8-DE05-42F9-BA438BA63CCA}"/>
          </p223:rxn>
        </p223:reactions>
      </p:ext>
    </p188:extLst>
  </p188:cm>
  <p188:cm id="{239A500F-2DED-4484-BA10-748AE70D8C57}" authorId="{E65742A4-0064-0028-9671-48FDB3F646DE}" created="2026-03-10T20:29:40.636">
    <pc:sldMkLst xmlns:pc="http://schemas.microsoft.com/office/powerpoint/2013/main/command">
      <pc:docMk/>
      <pc:sldMk cId="0" sldId="258"/>
    </pc:sldMkLst>
    <p188:txBody>
      <a:bodyPr/>
      <a:lstStyle/>
      <a:p>
        <a:r>
          <a:rPr lang="en-US"/>
          <a:t>The figures are labelled a, b, c but the legends are 1, 2, 3.</a:t>
        </a:r>
      </a:p>
    </p188:txBody>
    <p188:extLst>
      <p:ext xmlns:p="http://schemas.openxmlformats.org/presentationml/2006/main" uri="{57CB4572-C831-44C2-8A1C-0ADB6CCDFE69}">
        <p223:reactions xmlns:p223="http://schemas.microsoft.com/office/powerpoint/2022/03/main">
          <p223:rxn type="👍">
            <p223:instance time="2026-03-10T22:59:35.786" authorId="{261A7A24-D1C8-DE05-42F9-BA438BA63CCA}"/>
          </p223:rxn>
        </p223:reactions>
      </p:ext>
    </p188:extLst>
  </p188:cm>
  <p188:cm id="{BC9BD554-A154-44D7-8608-19FEE5C5BC8C}" authorId="{80654F09-7895-821A-8DDC-44055C8F2999}" created="2026-03-10T23:11:20.055">
    <ac:deMkLst xmlns:ac="http://schemas.microsoft.com/office/drawing/2013/main/command">
      <pc:docMk xmlns:pc="http://schemas.microsoft.com/office/powerpoint/2013/main/command"/>
      <pc:sldMk xmlns:pc="http://schemas.microsoft.com/office/powerpoint/2013/main/command" cId="0" sldId="258"/>
      <ac:picMk id="3" creationId="{14EC6F8E-22FE-4C59-DA90-FF42AD3370FF}"/>
    </ac:deMkLst>
    <p188:replyLst>
      <p188:reply id="{9038E702-2B9B-F54F-865D-C8EDB2DB6460}" authorId="{261A7A24-D1C8-DE05-42F9-BA438BA63CCA}" created="2026-03-10T23:13:52.082">
        <p188:txBody>
          <a:bodyPr/>
          <a:lstStyle/>
          <a:p>
            <a:r>
              <a:rPr lang="en-US"/>
              <a:t>Let's find time to review this.</a:t>
            </a:r>
          </a:p>
        </p188:txBody>
      </p188:reply>
    </p188:replyLst>
    <p188:txBody>
      <a:bodyPr/>
      <a:lstStyle/>
      <a:p>
        <a:r>
          <a:rPr lang="en-US"/>
          <a:t>Did you have a pathologist review this? Neuroendocrine Prostate Cancer can look a lot like lymphocytes.</a:t>
        </a:r>
      </a:p>
    </p188:txBody>
    <p188:extLst>
      <p:ext xmlns:p="http://schemas.openxmlformats.org/presentationml/2006/main" uri="{57CB4572-C831-44C2-8A1C-0ADB6CCDFE69}">
        <p223:reactions xmlns:p223="http://schemas.microsoft.com/office/powerpoint/2022/03/main">
          <p223:rxn type="👍">
            <p223:instance time="2026-03-10T23:13:37.940" authorId="{261A7A24-D1C8-DE05-42F9-BA438BA63CCA}"/>
          </p223:rxn>
        </p223:reactions>
      </p:ext>
    </p188:extLst>
  </p188:cm>
  <p188:cm id="{BA4A161B-2870-44ED-880F-EDE66B85E5A6}" authorId="{80654F09-7895-821A-8DDC-44055C8F2999}" created="2026-03-10T23:14:44.225">
    <ac:deMkLst xmlns:ac="http://schemas.microsoft.com/office/drawing/2013/main/command">
      <pc:docMk xmlns:pc="http://schemas.microsoft.com/office/powerpoint/2013/main/command"/>
      <pc:sldMk xmlns:pc="http://schemas.microsoft.com/office/powerpoint/2013/main/command" cId="0" sldId="258"/>
      <ac:picMk id="11" creationId="{984813E2-47F6-B92C-588E-0808BAB13847}"/>
    </ac:deMkLst>
    <p188:replyLst>
      <p188:reply id="{FA763212-2346-104E-99A9-689707645CE4}" authorId="{261A7A24-D1C8-DE05-42F9-BA438BA63CCA}" created="2026-03-10T23:16:13.604">
        <p188:txBody>
          <a:bodyPr/>
          <a:lstStyle/>
          <a:p>
            <a:r>
              <a:rPr lang="en-US"/>
              <a:t>I agree. I will revise the caption.</a:t>
            </a:r>
          </a:p>
        </p188:txBody>
      </p188:reply>
    </p188:replyLst>
    <p188:txBody>
      <a:bodyPr/>
      <a:lstStyle/>
      <a:p>
        <a:r>
          <a:rPr lang="en-US"/>
          <a:t>These metastatic sites are list in order of how many immune cells are present in those tissues. This ranking may be more about the inherent tissue rather than the prostate cancer.
</a:t>
        </a:r>
      </a:p>
    </p188:txBody>
    <p188:extLst>
      <p:ext xmlns:p="http://schemas.openxmlformats.org/presentationml/2006/main" uri="{57CB4572-C831-44C2-8A1C-0ADB6CCDFE69}">
        <p223:reactions xmlns:p223="http://schemas.microsoft.com/office/powerpoint/2022/03/main">
          <p223:rxn type="👍">
            <p223:instance time="2026-03-10T23:18:49.856" authorId="{261A7A24-D1C8-DE05-42F9-BA438BA63CCA}"/>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6146463" cy="2566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1105813" y="0"/>
            <a:ext cx="16148050" cy="2566988"/>
          </a:xfrm>
          <a:prstGeom prst="rect">
            <a:avLst/>
          </a:prstGeom>
        </p:spPr>
        <p:txBody>
          <a:bodyPr vert="horz" lIns="91440" tIns="45720" rIns="91440" bIns="45720" rtlCol="0"/>
          <a:lstStyle>
            <a:lvl1pPr algn="r">
              <a:defRPr sz="1200"/>
            </a:lvl1pPr>
          </a:lstStyle>
          <a:p>
            <a:fld id="{CD1CE467-6A7F-7C4B-9E6E-79DD6C259088}" type="datetimeFigureOut">
              <a:rPr lang="en-US" smtClean="0"/>
              <a:t>5/20/26</a:t>
            </a:fld>
            <a:endParaRPr lang="en-US"/>
          </a:p>
        </p:txBody>
      </p:sp>
      <p:sp>
        <p:nvSpPr>
          <p:cNvPr id="4" name="Slide Image Placeholder 3"/>
          <p:cNvSpPr>
            <a:spLocks noGrp="1" noRot="1" noChangeAspect="1"/>
          </p:cNvSpPr>
          <p:nvPr>
            <p:ph type="sldImg" idx="2"/>
          </p:nvPr>
        </p:nvSpPr>
        <p:spPr>
          <a:xfrm>
            <a:off x="7110413" y="6400800"/>
            <a:ext cx="23040975" cy="17281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725863" y="24642763"/>
            <a:ext cx="29810075" cy="20162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639413"/>
            <a:ext cx="16146463" cy="2566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1105813" y="48639413"/>
            <a:ext cx="16148050" cy="2566987"/>
          </a:xfrm>
          <a:prstGeom prst="rect">
            <a:avLst/>
          </a:prstGeom>
        </p:spPr>
        <p:txBody>
          <a:bodyPr vert="horz" lIns="91440" tIns="45720" rIns="91440" bIns="45720" rtlCol="0" anchor="b"/>
          <a:lstStyle>
            <a:lvl1pPr algn="r">
              <a:defRPr sz="1200"/>
            </a:lvl1pPr>
          </a:lstStyle>
          <a:p>
            <a:fld id="{B0BB6EF6-AA1E-F941-8714-5CA63A002961}" type="slidenum">
              <a:rPr lang="en-US" smtClean="0"/>
              <a:t>‹#›</a:t>
            </a:fld>
            <a:endParaRPr lang="en-US"/>
          </a:p>
        </p:txBody>
      </p:sp>
    </p:spTree>
    <p:extLst>
      <p:ext uri="{BB962C8B-B14F-4D97-AF65-F5344CB8AC3E}">
        <p14:creationId xmlns:p14="http://schemas.microsoft.com/office/powerpoint/2010/main" val="3318910946"/>
      </p:ext>
    </p:extLst>
  </p:cSld>
  <p:clrMap bg1="lt1" tx1="dk1" bg2="lt2" tx2="dk2" accent1="accent1" accent2="accent2" accent3="accent3" accent4="accent4" accent5="accent5" accent6="accent6" hlink="hlink" folHlink="folHlink"/>
  <p:notesStyle>
    <a:lvl1pPr marL="0" algn="l" defTabSz="3072186" rtl="0" eaLnBrk="1" latinLnBrk="0" hangingPunct="1">
      <a:defRPr sz="4032" kern="1200">
        <a:solidFill>
          <a:schemeClr val="tx1"/>
        </a:solidFill>
        <a:latin typeface="+mn-lt"/>
        <a:ea typeface="+mn-ea"/>
        <a:cs typeface="+mn-cs"/>
      </a:defRPr>
    </a:lvl1pPr>
    <a:lvl2pPr marL="1536095" algn="l" defTabSz="3072186" rtl="0" eaLnBrk="1" latinLnBrk="0" hangingPunct="1">
      <a:defRPr sz="4032" kern="1200">
        <a:solidFill>
          <a:schemeClr val="tx1"/>
        </a:solidFill>
        <a:latin typeface="+mn-lt"/>
        <a:ea typeface="+mn-ea"/>
        <a:cs typeface="+mn-cs"/>
      </a:defRPr>
    </a:lvl2pPr>
    <a:lvl3pPr marL="3072186" algn="l" defTabSz="3072186" rtl="0" eaLnBrk="1" latinLnBrk="0" hangingPunct="1">
      <a:defRPr sz="4032" kern="1200">
        <a:solidFill>
          <a:schemeClr val="tx1"/>
        </a:solidFill>
        <a:latin typeface="+mn-lt"/>
        <a:ea typeface="+mn-ea"/>
        <a:cs typeface="+mn-cs"/>
      </a:defRPr>
    </a:lvl3pPr>
    <a:lvl4pPr marL="4608280" algn="l" defTabSz="3072186" rtl="0" eaLnBrk="1" latinLnBrk="0" hangingPunct="1">
      <a:defRPr sz="4032" kern="1200">
        <a:solidFill>
          <a:schemeClr val="tx1"/>
        </a:solidFill>
        <a:latin typeface="+mn-lt"/>
        <a:ea typeface="+mn-ea"/>
        <a:cs typeface="+mn-cs"/>
      </a:defRPr>
    </a:lvl4pPr>
    <a:lvl5pPr marL="6144375" algn="l" defTabSz="3072186" rtl="0" eaLnBrk="1" latinLnBrk="0" hangingPunct="1">
      <a:defRPr sz="4032" kern="1200">
        <a:solidFill>
          <a:schemeClr val="tx1"/>
        </a:solidFill>
        <a:latin typeface="+mn-lt"/>
        <a:ea typeface="+mn-ea"/>
        <a:cs typeface="+mn-cs"/>
      </a:defRPr>
    </a:lvl5pPr>
    <a:lvl6pPr marL="7680469" algn="l" defTabSz="3072186" rtl="0" eaLnBrk="1" latinLnBrk="0" hangingPunct="1">
      <a:defRPr sz="4032" kern="1200">
        <a:solidFill>
          <a:schemeClr val="tx1"/>
        </a:solidFill>
        <a:latin typeface="+mn-lt"/>
        <a:ea typeface="+mn-ea"/>
        <a:cs typeface="+mn-cs"/>
      </a:defRPr>
    </a:lvl6pPr>
    <a:lvl7pPr marL="9216561" algn="l" defTabSz="3072186" rtl="0" eaLnBrk="1" latinLnBrk="0" hangingPunct="1">
      <a:defRPr sz="4032" kern="1200">
        <a:solidFill>
          <a:schemeClr val="tx1"/>
        </a:solidFill>
        <a:latin typeface="+mn-lt"/>
        <a:ea typeface="+mn-ea"/>
        <a:cs typeface="+mn-cs"/>
      </a:defRPr>
    </a:lvl7pPr>
    <a:lvl8pPr marL="10752655" algn="l" defTabSz="3072186" rtl="0" eaLnBrk="1" latinLnBrk="0" hangingPunct="1">
      <a:defRPr sz="4032" kern="1200">
        <a:solidFill>
          <a:schemeClr val="tx1"/>
        </a:solidFill>
        <a:latin typeface="+mn-lt"/>
        <a:ea typeface="+mn-ea"/>
        <a:cs typeface="+mn-cs"/>
      </a:defRPr>
    </a:lvl8pPr>
    <a:lvl9pPr marL="12288750" algn="l" defTabSz="3072186" rtl="0" eaLnBrk="1" latinLnBrk="0" hangingPunct="1">
      <a:defRPr sz="403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10413" y="6400800"/>
            <a:ext cx="23040975" cy="172815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BB6EF6-AA1E-F941-8714-5CA63A002961}" type="slidenum">
              <a:rPr lang="en-US" smtClean="0"/>
              <a:t>1</a:t>
            </a:fld>
            <a:endParaRPr lang="en-US"/>
          </a:p>
        </p:txBody>
      </p:sp>
    </p:spTree>
    <p:extLst>
      <p:ext uri="{BB962C8B-B14F-4D97-AF65-F5344CB8AC3E}">
        <p14:creationId xmlns:p14="http://schemas.microsoft.com/office/powerpoint/2010/main" val="29526253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626050F-198A-40B7-87B7-B9A28633B695}"/>
              </a:ext>
            </a:extLst>
          </p:cNvPr>
          <p:cNvGraphicFramePr>
            <a:graphicFrameLocks noChangeAspect="1"/>
          </p:cNvGraphicFramePr>
          <p:nvPr userDrawn="1">
            <p:custDataLst>
              <p:tags r:id="rId1"/>
            </p:custDataLst>
            <p:extLst>
              <p:ext uri="{D42A27DB-BD31-4B8C-83A1-F6EECF244321}">
                <p14:modId xmlns:p14="http://schemas.microsoft.com/office/powerpoint/2010/main" val="3457686797"/>
              </p:ext>
            </p:extLst>
          </p:nvPr>
        </p:nvGraphicFramePr>
        <p:xfrm>
          <a:off x="6098" y="4574"/>
          <a:ext cx="6098" cy="4573"/>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 name="Object 1" hidden="1">
                        <a:extLst>
                          <a:ext uri="{FF2B5EF4-FFF2-40B4-BE49-F238E27FC236}">
                            <a16:creationId xmlns:a16="http://schemas.microsoft.com/office/drawing/2014/main" id="{5626050F-198A-40B7-87B7-B9A28633B695}"/>
                          </a:ext>
                        </a:extLst>
                      </p:cNvPr>
                      <p:cNvPicPr/>
                      <p:nvPr/>
                    </p:nvPicPr>
                    <p:blipFill>
                      <a:blip r:embed="rId4"/>
                      <a:stretch>
                        <a:fillRect/>
                      </a:stretch>
                    </p:blipFill>
                    <p:spPr>
                      <a:xfrm>
                        <a:off x="6098" y="4574"/>
                        <a:ext cx="6098" cy="4573"/>
                      </a:xfrm>
                      <a:prstGeom prst="rect">
                        <a:avLst/>
                      </a:prstGeom>
                    </p:spPr>
                  </p:pic>
                </p:oleObj>
              </mc:Fallback>
            </mc:AlternateContent>
          </a:graphicData>
        </a:graphic>
      </p:graphicFrame>
    </p:spTree>
    <p:extLst>
      <p:ext uri="{BB962C8B-B14F-4D97-AF65-F5344CB8AC3E}">
        <p14:creationId xmlns:p14="http://schemas.microsoft.com/office/powerpoint/2010/main" val="3802946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37427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3.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2.emf"/><Relationship Id="rId5" Type="http://schemas.openxmlformats.org/officeDocument/2006/relationships/image" Target="../media/image1.emf"/><Relationship Id="rId4"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8E37F1D-99E4-4C56-8D74-A89F0BF66CB0}"/>
              </a:ext>
            </a:extLst>
          </p:cNvPr>
          <p:cNvGraphicFramePr>
            <a:graphicFrameLocks noChangeAspect="1"/>
          </p:cNvGraphicFramePr>
          <p:nvPr userDrawn="1">
            <p:custDataLst>
              <p:tags r:id="rId3"/>
            </p:custDataLst>
            <p:extLst>
              <p:ext uri="{D42A27DB-BD31-4B8C-83A1-F6EECF244321}">
                <p14:modId xmlns:p14="http://schemas.microsoft.com/office/powerpoint/2010/main" val="939333809"/>
              </p:ext>
            </p:extLst>
          </p:nvPr>
        </p:nvGraphicFramePr>
        <p:xfrm>
          <a:off x="6098" y="4574"/>
          <a:ext cx="6098" cy="4573"/>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 name="Object 1" hidden="1">
                        <a:extLst>
                          <a:ext uri="{FF2B5EF4-FFF2-40B4-BE49-F238E27FC236}">
                            <a16:creationId xmlns:a16="http://schemas.microsoft.com/office/drawing/2014/main" id="{D8E37F1D-99E4-4C56-8D74-A89F0BF66CB0}"/>
                          </a:ext>
                        </a:extLst>
                      </p:cNvPr>
                      <p:cNvPicPr/>
                      <p:nvPr/>
                    </p:nvPicPr>
                    <p:blipFill>
                      <a:blip r:embed="rId5"/>
                      <a:stretch>
                        <a:fillRect/>
                      </a:stretch>
                    </p:blipFill>
                    <p:spPr>
                      <a:xfrm>
                        <a:off x="6098" y="4574"/>
                        <a:ext cx="6098" cy="4573"/>
                      </a:xfrm>
                      <a:prstGeom prst="rect">
                        <a:avLst/>
                      </a:prstGeom>
                    </p:spPr>
                  </p:pic>
                </p:oleObj>
              </mc:Fallback>
            </mc:AlternateContent>
          </a:graphicData>
        </a:graphic>
      </p:graphicFrame>
      <p:sp>
        <p:nvSpPr>
          <p:cNvPr id="1032" name="Line 8">
            <a:extLst>
              <a:ext uri="{FF2B5EF4-FFF2-40B4-BE49-F238E27FC236}">
                <a16:creationId xmlns:a16="http://schemas.microsoft.com/office/drawing/2014/main" id="{4B31304C-FCB8-4E23-B019-43A6107DEAB3}"/>
              </a:ext>
            </a:extLst>
          </p:cNvPr>
          <p:cNvSpPr>
            <a:spLocks noChangeShapeType="1"/>
          </p:cNvSpPr>
          <p:nvPr/>
        </p:nvSpPr>
        <p:spPr bwMode="auto">
          <a:xfrm>
            <a:off x="0" y="1527048"/>
            <a:ext cx="15282985" cy="0"/>
          </a:xfrm>
          <a:prstGeom prst="line">
            <a:avLst/>
          </a:prstGeom>
          <a:noFill/>
          <a:ln w="57150" cmpd="thickThin">
            <a:solidFill>
              <a:schemeClr val="tx1"/>
            </a:solidFill>
            <a:round/>
            <a:headEnd/>
            <a:tailEnd/>
          </a:ln>
          <a:effectLst/>
        </p:spPr>
        <p:txBody>
          <a:bodyPr wrap="none" anchor="ctr"/>
          <a:lstStyle/>
          <a:p>
            <a:pPr>
              <a:defRPr/>
            </a:pPr>
            <a:endParaRPr lang="en-US" sz="6912">
              <a:latin typeface="Times New Roman" charset="0"/>
            </a:endParaRPr>
          </a:p>
        </p:txBody>
      </p:sp>
      <p:sp>
        <p:nvSpPr>
          <p:cNvPr id="5" name="Rectangle 7">
            <a:extLst>
              <a:ext uri="{FF2B5EF4-FFF2-40B4-BE49-F238E27FC236}">
                <a16:creationId xmlns:a16="http://schemas.microsoft.com/office/drawing/2014/main" id="{C1F4463E-216F-490A-8767-E9BCD6969D95}"/>
              </a:ext>
            </a:extLst>
          </p:cNvPr>
          <p:cNvSpPr>
            <a:spLocks noChangeArrowheads="1"/>
          </p:cNvSpPr>
          <p:nvPr userDrawn="1"/>
        </p:nvSpPr>
        <p:spPr bwMode="auto">
          <a:xfrm>
            <a:off x="0" y="1"/>
            <a:ext cx="43891200" cy="4745736"/>
          </a:xfrm>
          <a:prstGeom prst="rect">
            <a:avLst/>
          </a:prstGeom>
          <a:solidFill>
            <a:srgbClr val="E0E0E0"/>
          </a:solidFill>
          <a:ln w="9525">
            <a:noFill/>
            <a:miter lim="800000"/>
            <a:headEnd/>
            <a:tailEnd/>
          </a:ln>
        </p:spPr>
        <p:txBody>
          <a:bodyPr wrap="none" anchor="ctr"/>
          <a:lstStyle/>
          <a:p>
            <a:pPr algn="ctr" defTabSz="822908">
              <a:defRPr/>
            </a:pPr>
            <a:endParaRPr lang="en-US" sz="6912">
              <a:latin typeface="Calibri" pitchFamily="34" charset="0"/>
            </a:endParaRPr>
          </a:p>
        </p:txBody>
      </p:sp>
      <p:pic>
        <p:nvPicPr>
          <p:cNvPr id="10" name="Google Shape;53;p7">
            <a:extLst>
              <a:ext uri="{FF2B5EF4-FFF2-40B4-BE49-F238E27FC236}">
                <a16:creationId xmlns:a16="http://schemas.microsoft.com/office/drawing/2014/main" id="{F03892BE-D594-4D1B-B978-C7A7F07D3067}"/>
              </a:ext>
            </a:extLst>
          </p:cNvPr>
          <p:cNvPicPr preferRelativeResize="0">
            <a:picLocks noChangeAspect="1" noChangeArrowheads="1"/>
          </p:cNvPicPr>
          <p:nvPr userDrawn="1"/>
        </p:nvPicPr>
        <p:blipFill>
          <a:blip r:embed="rId6">
            <a:extLst>
              <a:ext uri="{28A0092B-C50C-407E-A947-70E740481C1C}">
                <a14:useLocalDpi xmlns:a14="http://schemas.microsoft.com/office/drawing/2010/main" val="0"/>
              </a:ext>
            </a:extLst>
          </a:blip>
          <a:srcRect t="787" b="787"/>
          <a:stretch>
            <a:fillRect/>
          </a:stretch>
        </p:blipFill>
        <p:spPr bwMode="auto">
          <a:xfrm>
            <a:off x="1125412" y="30900439"/>
            <a:ext cx="4072212" cy="138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Placeholder 4" descr="A picture containing accessory, umbrella, sunglasses, spectacles&#10;&#10;Description automatically generated">
            <a:extLst>
              <a:ext uri="{FF2B5EF4-FFF2-40B4-BE49-F238E27FC236}">
                <a16:creationId xmlns:a16="http://schemas.microsoft.com/office/drawing/2014/main" id="{A334DAB4-CA85-4B02-9C6D-5647A48F9AD1}"/>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t="24632"/>
          <a:stretch/>
        </p:blipFill>
        <p:spPr bwMode="gray">
          <a:xfrm>
            <a:off x="28968192" y="-24"/>
            <a:ext cx="14923008" cy="474573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20">
            <a:extLst>
              <a:ext uri="{FF2B5EF4-FFF2-40B4-BE49-F238E27FC236}">
                <a16:creationId xmlns:a16="http://schemas.microsoft.com/office/drawing/2014/main" id="{24C34564-36FB-4972-A109-90FD44AEA25B}"/>
              </a:ext>
            </a:extLst>
          </p:cNvPr>
          <p:cNvSpPr>
            <a:spLocks noChangeArrowheads="1"/>
          </p:cNvSpPr>
          <p:nvPr userDrawn="1"/>
        </p:nvSpPr>
        <p:spPr bwMode="auto">
          <a:xfrm>
            <a:off x="39086917" y="31517993"/>
            <a:ext cx="3477234" cy="579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r>
              <a:rPr lang="en-GB" altLang="en-US" sz="3168" b="0" i="1">
                <a:solidFill>
                  <a:schemeClr val="bg1">
                    <a:lumMod val="65000"/>
                  </a:schemeClr>
                </a:solidFill>
              </a:rPr>
              <a:t>Pfizer Confidential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814009" rtl="0" eaLnBrk="1" fontAlgn="base" hangingPunct="1">
        <a:spcBef>
          <a:spcPct val="0"/>
        </a:spcBef>
        <a:spcAft>
          <a:spcPct val="0"/>
        </a:spcAft>
        <a:defRPr sz="23037">
          <a:solidFill>
            <a:schemeClr val="tx2"/>
          </a:solidFill>
          <a:latin typeface="+mj-lt"/>
          <a:ea typeface="+mj-ea"/>
          <a:cs typeface="+mj-cs"/>
        </a:defRPr>
      </a:lvl1pPr>
      <a:lvl2pPr algn="ctr" defTabSz="4814009" rtl="0" eaLnBrk="1" fontAlgn="base" hangingPunct="1">
        <a:spcBef>
          <a:spcPct val="0"/>
        </a:spcBef>
        <a:spcAft>
          <a:spcPct val="0"/>
        </a:spcAft>
        <a:defRPr sz="23037">
          <a:solidFill>
            <a:schemeClr val="tx2"/>
          </a:solidFill>
          <a:latin typeface="Times New Roman" charset="0"/>
        </a:defRPr>
      </a:lvl2pPr>
      <a:lvl3pPr algn="ctr" defTabSz="4814009" rtl="0" eaLnBrk="1" fontAlgn="base" hangingPunct="1">
        <a:spcBef>
          <a:spcPct val="0"/>
        </a:spcBef>
        <a:spcAft>
          <a:spcPct val="0"/>
        </a:spcAft>
        <a:defRPr sz="23037">
          <a:solidFill>
            <a:schemeClr val="tx2"/>
          </a:solidFill>
          <a:latin typeface="Times New Roman" charset="0"/>
        </a:defRPr>
      </a:lvl3pPr>
      <a:lvl4pPr algn="ctr" defTabSz="4814009" rtl="0" eaLnBrk="1" fontAlgn="base" hangingPunct="1">
        <a:spcBef>
          <a:spcPct val="0"/>
        </a:spcBef>
        <a:spcAft>
          <a:spcPct val="0"/>
        </a:spcAft>
        <a:defRPr sz="23037">
          <a:solidFill>
            <a:schemeClr val="tx2"/>
          </a:solidFill>
          <a:latin typeface="Times New Roman" charset="0"/>
        </a:defRPr>
      </a:lvl4pPr>
      <a:lvl5pPr algn="ctr" defTabSz="4814009" rtl="0" eaLnBrk="1" fontAlgn="base" hangingPunct="1">
        <a:spcBef>
          <a:spcPct val="0"/>
        </a:spcBef>
        <a:spcAft>
          <a:spcPct val="0"/>
        </a:spcAft>
        <a:defRPr sz="23037">
          <a:solidFill>
            <a:schemeClr val="tx2"/>
          </a:solidFill>
          <a:latin typeface="Times New Roman" charset="0"/>
        </a:defRPr>
      </a:lvl5pPr>
      <a:lvl6pPr marL="1316652" algn="ctr" defTabSz="4814009" rtl="0" eaLnBrk="1" fontAlgn="base" hangingPunct="1">
        <a:spcBef>
          <a:spcPct val="0"/>
        </a:spcBef>
        <a:spcAft>
          <a:spcPct val="0"/>
        </a:spcAft>
        <a:defRPr sz="23037">
          <a:solidFill>
            <a:schemeClr val="tx2"/>
          </a:solidFill>
          <a:latin typeface="Times New Roman" charset="0"/>
        </a:defRPr>
      </a:lvl6pPr>
      <a:lvl7pPr marL="2633302" algn="ctr" defTabSz="4814009" rtl="0" eaLnBrk="1" fontAlgn="base" hangingPunct="1">
        <a:spcBef>
          <a:spcPct val="0"/>
        </a:spcBef>
        <a:spcAft>
          <a:spcPct val="0"/>
        </a:spcAft>
        <a:defRPr sz="23037">
          <a:solidFill>
            <a:schemeClr val="tx2"/>
          </a:solidFill>
          <a:latin typeface="Times New Roman" charset="0"/>
        </a:defRPr>
      </a:lvl7pPr>
      <a:lvl8pPr marL="3949955" algn="ctr" defTabSz="4814009" rtl="0" eaLnBrk="1" fontAlgn="base" hangingPunct="1">
        <a:spcBef>
          <a:spcPct val="0"/>
        </a:spcBef>
        <a:spcAft>
          <a:spcPct val="0"/>
        </a:spcAft>
        <a:defRPr sz="23037">
          <a:solidFill>
            <a:schemeClr val="tx2"/>
          </a:solidFill>
          <a:latin typeface="Times New Roman" charset="0"/>
        </a:defRPr>
      </a:lvl8pPr>
      <a:lvl9pPr marL="5266607" algn="ctr" defTabSz="4814009" rtl="0" eaLnBrk="1" fontAlgn="base" hangingPunct="1">
        <a:spcBef>
          <a:spcPct val="0"/>
        </a:spcBef>
        <a:spcAft>
          <a:spcPct val="0"/>
        </a:spcAft>
        <a:defRPr sz="23037">
          <a:solidFill>
            <a:schemeClr val="tx2"/>
          </a:solidFill>
          <a:latin typeface="Times New Roman" charset="0"/>
        </a:defRPr>
      </a:lvl9pPr>
    </p:titleStyle>
    <p:bodyStyle>
      <a:lvl1pPr marL="1805826" indent="-1805826" algn="l" defTabSz="4814009" rtl="0" eaLnBrk="1" fontAlgn="base" hangingPunct="1">
        <a:spcBef>
          <a:spcPct val="20000"/>
        </a:spcBef>
        <a:spcAft>
          <a:spcPct val="0"/>
        </a:spcAft>
        <a:buChar char="•"/>
        <a:defRPr sz="16992">
          <a:solidFill>
            <a:schemeClr val="tx1"/>
          </a:solidFill>
          <a:latin typeface="+mn-lt"/>
          <a:ea typeface="+mn-ea"/>
          <a:cs typeface="+mn-cs"/>
        </a:defRPr>
      </a:lvl1pPr>
      <a:lvl2pPr marL="3913381" indent="-1504092" algn="l" defTabSz="4814009" rtl="0" eaLnBrk="1" fontAlgn="base" hangingPunct="1">
        <a:spcBef>
          <a:spcPct val="20000"/>
        </a:spcBef>
        <a:spcAft>
          <a:spcPct val="0"/>
        </a:spcAft>
        <a:buChar char="–"/>
        <a:defRPr sz="14688">
          <a:solidFill>
            <a:schemeClr val="tx1"/>
          </a:solidFill>
          <a:latin typeface="+mn-lt"/>
        </a:defRPr>
      </a:lvl2pPr>
      <a:lvl3pPr marL="6020940" indent="-1206930" algn="l" defTabSz="4814009" rtl="0" eaLnBrk="1" fontAlgn="base" hangingPunct="1">
        <a:spcBef>
          <a:spcPct val="20000"/>
        </a:spcBef>
        <a:spcAft>
          <a:spcPct val="0"/>
        </a:spcAft>
        <a:buChar char="•"/>
        <a:defRPr sz="12672">
          <a:solidFill>
            <a:schemeClr val="tx1"/>
          </a:solidFill>
          <a:latin typeface="+mn-lt"/>
        </a:defRPr>
      </a:lvl3pPr>
      <a:lvl4pPr marL="8425659" indent="-1202360" algn="l" defTabSz="4814009" rtl="0" eaLnBrk="1" fontAlgn="base" hangingPunct="1">
        <a:spcBef>
          <a:spcPct val="20000"/>
        </a:spcBef>
        <a:spcAft>
          <a:spcPct val="0"/>
        </a:spcAft>
        <a:buChar char="–"/>
        <a:defRPr sz="10656">
          <a:solidFill>
            <a:schemeClr val="tx1"/>
          </a:solidFill>
          <a:latin typeface="+mn-lt"/>
        </a:defRPr>
      </a:lvl4pPr>
      <a:lvl5pPr marL="10834946" indent="-1206930" algn="l" defTabSz="4814009" rtl="0" eaLnBrk="1" fontAlgn="base" hangingPunct="1">
        <a:spcBef>
          <a:spcPct val="20000"/>
        </a:spcBef>
        <a:spcAft>
          <a:spcPct val="0"/>
        </a:spcAft>
        <a:buChar char="»"/>
        <a:defRPr sz="10656">
          <a:solidFill>
            <a:schemeClr val="tx1"/>
          </a:solidFill>
          <a:latin typeface="+mn-lt"/>
        </a:defRPr>
      </a:lvl5pPr>
      <a:lvl6pPr marL="12151598" indent="-1206930" algn="l" defTabSz="4814009" rtl="0" eaLnBrk="1" fontAlgn="base" hangingPunct="1">
        <a:spcBef>
          <a:spcPct val="20000"/>
        </a:spcBef>
        <a:spcAft>
          <a:spcPct val="0"/>
        </a:spcAft>
        <a:buChar char="»"/>
        <a:defRPr sz="10656">
          <a:solidFill>
            <a:schemeClr val="tx1"/>
          </a:solidFill>
          <a:latin typeface="+mn-lt"/>
        </a:defRPr>
      </a:lvl6pPr>
      <a:lvl7pPr marL="13468251" indent="-1206930" algn="l" defTabSz="4814009" rtl="0" eaLnBrk="1" fontAlgn="base" hangingPunct="1">
        <a:spcBef>
          <a:spcPct val="20000"/>
        </a:spcBef>
        <a:spcAft>
          <a:spcPct val="0"/>
        </a:spcAft>
        <a:buChar char="»"/>
        <a:defRPr sz="10656">
          <a:solidFill>
            <a:schemeClr val="tx1"/>
          </a:solidFill>
          <a:latin typeface="+mn-lt"/>
        </a:defRPr>
      </a:lvl7pPr>
      <a:lvl8pPr marL="14784900" indent="-1206930" algn="l" defTabSz="4814009" rtl="0" eaLnBrk="1" fontAlgn="base" hangingPunct="1">
        <a:spcBef>
          <a:spcPct val="20000"/>
        </a:spcBef>
        <a:spcAft>
          <a:spcPct val="0"/>
        </a:spcAft>
        <a:buChar char="»"/>
        <a:defRPr sz="10656">
          <a:solidFill>
            <a:schemeClr val="tx1"/>
          </a:solidFill>
          <a:latin typeface="+mn-lt"/>
        </a:defRPr>
      </a:lvl8pPr>
      <a:lvl9pPr marL="16101553" indent="-1206930" algn="l" defTabSz="4814009" rtl="0" eaLnBrk="1" fontAlgn="base" hangingPunct="1">
        <a:spcBef>
          <a:spcPct val="20000"/>
        </a:spcBef>
        <a:spcAft>
          <a:spcPct val="0"/>
        </a:spcAft>
        <a:buChar char="»"/>
        <a:defRPr sz="10656">
          <a:solidFill>
            <a:schemeClr val="tx1"/>
          </a:solidFill>
          <a:latin typeface="+mn-lt"/>
        </a:defRPr>
      </a:lvl9pPr>
    </p:bodyStyle>
    <p:otherStyle>
      <a:defPPr>
        <a:defRPr lang="en-US"/>
      </a:defPPr>
      <a:lvl1pPr marL="0" algn="l" defTabSz="2633302" rtl="0" eaLnBrk="1" latinLnBrk="0" hangingPunct="1">
        <a:defRPr sz="5184" kern="1200">
          <a:solidFill>
            <a:schemeClr val="tx1"/>
          </a:solidFill>
          <a:latin typeface="+mn-lt"/>
          <a:ea typeface="+mn-ea"/>
          <a:cs typeface="+mn-cs"/>
        </a:defRPr>
      </a:lvl1pPr>
      <a:lvl2pPr marL="1316652" algn="l" defTabSz="2633302" rtl="0" eaLnBrk="1" latinLnBrk="0" hangingPunct="1">
        <a:defRPr sz="5184" kern="1200">
          <a:solidFill>
            <a:schemeClr val="tx1"/>
          </a:solidFill>
          <a:latin typeface="+mn-lt"/>
          <a:ea typeface="+mn-ea"/>
          <a:cs typeface="+mn-cs"/>
        </a:defRPr>
      </a:lvl2pPr>
      <a:lvl3pPr marL="2633302" algn="l" defTabSz="2633302" rtl="0" eaLnBrk="1" latinLnBrk="0" hangingPunct="1">
        <a:defRPr sz="5184" kern="1200">
          <a:solidFill>
            <a:schemeClr val="tx1"/>
          </a:solidFill>
          <a:latin typeface="+mn-lt"/>
          <a:ea typeface="+mn-ea"/>
          <a:cs typeface="+mn-cs"/>
        </a:defRPr>
      </a:lvl3pPr>
      <a:lvl4pPr marL="3949955" algn="l" defTabSz="2633302" rtl="0" eaLnBrk="1" latinLnBrk="0" hangingPunct="1">
        <a:defRPr sz="5184" kern="1200">
          <a:solidFill>
            <a:schemeClr val="tx1"/>
          </a:solidFill>
          <a:latin typeface="+mn-lt"/>
          <a:ea typeface="+mn-ea"/>
          <a:cs typeface="+mn-cs"/>
        </a:defRPr>
      </a:lvl4pPr>
      <a:lvl5pPr marL="5266607" algn="l" defTabSz="2633302" rtl="0" eaLnBrk="1" latinLnBrk="0" hangingPunct="1">
        <a:defRPr sz="5184" kern="1200">
          <a:solidFill>
            <a:schemeClr val="tx1"/>
          </a:solidFill>
          <a:latin typeface="+mn-lt"/>
          <a:ea typeface="+mn-ea"/>
          <a:cs typeface="+mn-cs"/>
        </a:defRPr>
      </a:lvl5pPr>
      <a:lvl6pPr marL="6583260" algn="l" defTabSz="2633302" rtl="0" eaLnBrk="1" latinLnBrk="0" hangingPunct="1">
        <a:defRPr sz="5184" kern="1200">
          <a:solidFill>
            <a:schemeClr val="tx1"/>
          </a:solidFill>
          <a:latin typeface="+mn-lt"/>
          <a:ea typeface="+mn-ea"/>
          <a:cs typeface="+mn-cs"/>
        </a:defRPr>
      </a:lvl6pPr>
      <a:lvl7pPr marL="7899909" algn="l" defTabSz="2633302" rtl="0" eaLnBrk="1" latinLnBrk="0" hangingPunct="1">
        <a:defRPr sz="5184" kern="1200">
          <a:solidFill>
            <a:schemeClr val="tx1"/>
          </a:solidFill>
          <a:latin typeface="+mn-lt"/>
          <a:ea typeface="+mn-ea"/>
          <a:cs typeface="+mn-cs"/>
        </a:defRPr>
      </a:lvl7pPr>
      <a:lvl8pPr marL="9216562" algn="l" defTabSz="2633302" rtl="0" eaLnBrk="1" latinLnBrk="0" hangingPunct="1">
        <a:defRPr sz="5184" kern="1200">
          <a:solidFill>
            <a:schemeClr val="tx1"/>
          </a:solidFill>
          <a:latin typeface="+mn-lt"/>
          <a:ea typeface="+mn-ea"/>
          <a:cs typeface="+mn-cs"/>
        </a:defRPr>
      </a:lvl8pPr>
      <a:lvl9pPr marL="10533214" algn="l" defTabSz="2633302" rtl="0" eaLnBrk="1" latinLnBrk="0" hangingPunct="1">
        <a:defRPr sz="5184"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8712FB6-FF8E-4952-9358-BCDFA195679E}"/>
              </a:ext>
            </a:extLst>
          </p:cNvPr>
          <p:cNvGraphicFramePr>
            <a:graphicFrameLocks noChangeAspect="1"/>
          </p:cNvGraphicFramePr>
          <p:nvPr userDrawn="1">
            <p:custDataLst>
              <p:tags r:id="rId3"/>
            </p:custDataLst>
            <p:extLst>
              <p:ext uri="{D42A27DB-BD31-4B8C-83A1-F6EECF244321}">
                <p14:modId xmlns:p14="http://schemas.microsoft.com/office/powerpoint/2010/main" val="545289845"/>
              </p:ext>
            </p:extLst>
          </p:nvPr>
        </p:nvGraphicFramePr>
        <p:xfrm>
          <a:off x="6098" y="4574"/>
          <a:ext cx="6098" cy="4573"/>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 name="Object 1" hidden="1">
                        <a:extLst>
                          <a:ext uri="{FF2B5EF4-FFF2-40B4-BE49-F238E27FC236}">
                            <a16:creationId xmlns:a16="http://schemas.microsoft.com/office/drawing/2014/main" id="{58712FB6-FF8E-4952-9358-BCDFA195679E}"/>
                          </a:ext>
                        </a:extLst>
                      </p:cNvPr>
                      <p:cNvPicPr/>
                      <p:nvPr/>
                    </p:nvPicPr>
                    <p:blipFill>
                      <a:blip r:embed="rId5"/>
                      <a:stretch>
                        <a:fillRect/>
                      </a:stretch>
                    </p:blipFill>
                    <p:spPr>
                      <a:xfrm>
                        <a:off x="6098" y="4574"/>
                        <a:ext cx="6098" cy="4573"/>
                      </a:xfrm>
                      <a:prstGeom prst="rect">
                        <a:avLst/>
                      </a:prstGeom>
                    </p:spPr>
                  </p:pic>
                </p:oleObj>
              </mc:Fallback>
            </mc:AlternateContent>
          </a:graphicData>
        </a:graphic>
      </p:graphicFrame>
      <p:sp>
        <p:nvSpPr>
          <p:cNvPr id="1032" name="Line 8">
            <a:extLst>
              <a:ext uri="{FF2B5EF4-FFF2-40B4-BE49-F238E27FC236}">
                <a16:creationId xmlns:a16="http://schemas.microsoft.com/office/drawing/2014/main" id="{4B31304C-FCB8-4E23-B019-43A6107DEAB3}"/>
              </a:ext>
            </a:extLst>
          </p:cNvPr>
          <p:cNvSpPr>
            <a:spLocks noChangeShapeType="1"/>
          </p:cNvSpPr>
          <p:nvPr/>
        </p:nvSpPr>
        <p:spPr bwMode="auto">
          <a:xfrm>
            <a:off x="0" y="1527048"/>
            <a:ext cx="15282985" cy="0"/>
          </a:xfrm>
          <a:prstGeom prst="line">
            <a:avLst/>
          </a:prstGeom>
          <a:noFill/>
          <a:ln w="57150" cmpd="thickThin">
            <a:solidFill>
              <a:schemeClr val="tx1"/>
            </a:solidFill>
            <a:round/>
            <a:headEnd/>
            <a:tailEnd/>
          </a:ln>
          <a:effectLst/>
        </p:spPr>
        <p:txBody>
          <a:bodyPr wrap="none" anchor="ctr"/>
          <a:lstStyle/>
          <a:p>
            <a:pPr>
              <a:defRPr/>
            </a:pPr>
            <a:endParaRPr lang="en-US" sz="6912">
              <a:latin typeface="Times New Roman" charset="0"/>
            </a:endParaRPr>
          </a:p>
        </p:txBody>
      </p:sp>
      <p:sp>
        <p:nvSpPr>
          <p:cNvPr id="5" name="Rectangle 7">
            <a:extLst>
              <a:ext uri="{FF2B5EF4-FFF2-40B4-BE49-F238E27FC236}">
                <a16:creationId xmlns:a16="http://schemas.microsoft.com/office/drawing/2014/main" id="{C1F4463E-216F-490A-8767-E9BCD6969D95}"/>
              </a:ext>
            </a:extLst>
          </p:cNvPr>
          <p:cNvSpPr>
            <a:spLocks noChangeArrowheads="1"/>
          </p:cNvSpPr>
          <p:nvPr userDrawn="1"/>
        </p:nvSpPr>
        <p:spPr bwMode="auto">
          <a:xfrm>
            <a:off x="0" y="1"/>
            <a:ext cx="43891200" cy="4745736"/>
          </a:xfrm>
          <a:prstGeom prst="rect">
            <a:avLst/>
          </a:prstGeom>
          <a:solidFill>
            <a:schemeClr val="accent1"/>
          </a:solidFill>
          <a:ln w="9525">
            <a:noFill/>
            <a:miter lim="800000"/>
            <a:headEnd/>
            <a:tailEnd/>
          </a:ln>
        </p:spPr>
        <p:txBody>
          <a:bodyPr wrap="none" anchor="ctr"/>
          <a:lstStyle/>
          <a:p>
            <a:pPr algn="ctr" defTabSz="822908">
              <a:defRPr/>
            </a:pPr>
            <a:endParaRPr lang="en-US" sz="6912">
              <a:latin typeface="Calibri" pitchFamily="34" charset="0"/>
            </a:endParaRPr>
          </a:p>
        </p:txBody>
      </p:sp>
      <p:sp>
        <p:nvSpPr>
          <p:cNvPr id="14" name="Rectangle 20">
            <a:extLst>
              <a:ext uri="{FF2B5EF4-FFF2-40B4-BE49-F238E27FC236}">
                <a16:creationId xmlns:a16="http://schemas.microsoft.com/office/drawing/2014/main" id="{24C34564-36FB-4972-A109-90FD44AEA25B}"/>
              </a:ext>
            </a:extLst>
          </p:cNvPr>
          <p:cNvSpPr>
            <a:spLocks noChangeArrowheads="1"/>
          </p:cNvSpPr>
          <p:nvPr userDrawn="1"/>
        </p:nvSpPr>
        <p:spPr bwMode="auto">
          <a:xfrm>
            <a:off x="39745750" y="31517993"/>
            <a:ext cx="3477234" cy="579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r" eaLnBrk="1" hangingPunct="1"/>
            <a:r>
              <a:rPr lang="en-GB" altLang="en-US" sz="3168" b="0" i="1">
                <a:solidFill>
                  <a:schemeClr val="bg1">
                    <a:lumMod val="65000"/>
                  </a:schemeClr>
                </a:solidFill>
              </a:rPr>
              <a:t>Pfizer Confidential</a:t>
            </a:r>
          </a:p>
        </p:txBody>
      </p:sp>
      <p:grpSp>
        <p:nvGrpSpPr>
          <p:cNvPr id="9" name="Group 8">
            <a:extLst>
              <a:ext uri="{FF2B5EF4-FFF2-40B4-BE49-F238E27FC236}">
                <a16:creationId xmlns:a16="http://schemas.microsoft.com/office/drawing/2014/main" id="{8538A084-842C-40FE-9D0A-94D61619D6C9}"/>
              </a:ext>
            </a:extLst>
          </p:cNvPr>
          <p:cNvGrpSpPr/>
          <p:nvPr userDrawn="1"/>
        </p:nvGrpSpPr>
        <p:grpSpPr>
          <a:xfrm>
            <a:off x="1125418" y="30900437"/>
            <a:ext cx="17894112" cy="1387025"/>
            <a:chOff x="415925" y="6400800"/>
            <a:chExt cx="3620438" cy="334963"/>
          </a:xfrm>
        </p:grpSpPr>
        <p:pic>
          <p:nvPicPr>
            <p:cNvPr id="12" name="Google Shape;53;p7">
              <a:extLst>
                <a:ext uri="{FF2B5EF4-FFF2-40B4-BE49-F238E27FC236}">
                  <a16:creationId xmlns:a16="http://schemas.microsoft.com/office/drawing/2014/main" id="{1C858063-1959-4DC9-A2C0-F9869A637F0B}"/>
                </a:ext>
              </a:extLst>
            </p:cNvPr>
            <p:cNvPicPr preferRelativeResize="0">
              <a:picLocks noChangeAspect="1" noChangeArrowheads="1"/>
            </p:cNvPicPr>
            <p:nvPr userDrawn="1"/>
          </p:nvPicPr>
          <p:blipFill>
            <a:blip r:embed="rId6">
              <a:extLst>
                <a:ext uri="{28A0092B-C50C-407E-A947-70E740481C1C}">
                  <a14:useLocalDpi xmlns:a14="http://schemas.microsoft.com/office/drawing/2010/main" val="0"/>
                </a:ext>
              </a:extLst>
            </a:blip>
            <a:srcRect t="787" b="787"/>
            <a:stretch>
              <a:fillRect/>
            </a:stretch>
          </p:blipFill>
          <p:spPr bwMode="auto">
            <a:xfrm>
              <a:off x="415925" y="6400800"/>
              <a:ext cx="82391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20">
              <a:extLst>
                <a:ext uri="{FF2B5EF4-FFF2-40B4-BE49-F238E27FC236}">
                  <a16:creationId xmlns:a16="http://schemas.microsoft.com/office/drawing/2014/main" id="{7877C032-8E08-440C-AF60-9E024D3D9294}"/>
                </a:ext>
              </a:extLst>
            </p:cNvPr>
            <p:cNvSpPr>
              <a:spLocks noChangeArrowheads="1"/>
            </p:cNvSpPr>
            <p:nvPr userDrawn="1"/>
          </p:nvSpPr>
          <p:spPr bwMode="auto">
            <a:xfrm>
              <a:off x="1316892" y="6549937"/>
              <a:ext cx="2719471" cy="1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lvl1pPr>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GB" altLang="en-US" sz="3168" b="1">
                  <a:solidFill>
                    <a:srgbClr val="0000C9"/>
                  </a:solidFill>
                </a:rPr>
                <a:t>Worldwide Research, Development and Medical</a:t>
              </a:r>
            </a:p>
          </p:txBody>
        </p:sp>
      </p:grpSp>
    </p:spTree>
    <p:extLst>
      <p:ext uri="{BB962C8B-B14F-4D97-AF65-F5344CB8AC3E}">
        <p14:creationId xmlns:p14="http://schemas.microsoft.com/office/powerpoint/2010/main" val="3584406358"/>
      </p:ext>
    </p:extLst>
  </p:cSld>
  <p:clrMap bg1="lt1" tx1="dk1" bg2="lt2" tx2="dk2" accent1="accent1" accent2="accent2" accent3="accent3" accent4="accent4" accent5="accent5" accent6="accent6" hlink="hlink" folHlink="folHlink"/>
  <p:sldLayoutIdLst>
    <p:sldLayoutId id="2147483657" r:id="rId1"/>
  </p:sldLayoutIdLst>
  <p:txStyles>
    <p:titleStyle>
      <a:lvl1pPr algn="ctr" defTabSz="4814009" rtl="0" eaLnBrk="1" fontAlgn="base" hangingPunct="1">
        <a:spcBef>
          <a:spcPct val="0"/>
        </a:spcBef>
        <a:spcAft>
          <a:spcPct val="0"/>
        </a:spcAft>
        <a:defRPr sz="23037">
          <a:solidFill>
            <a:schemeClr val="tx2"/>
          </a:solidFill>
          <a:latin typeface="+mj-lt"/>
          <a:ea typeface="+mj-ea"/>
          <a:cs typeface="+mj-cs"/>
        </a:defRPr>
      </a:lvl1pPr>
      <a:lvl2pPr algn="ctr" defTabSz="4814009" rtl="0" eaLnBrk="1" fontAlgn="base" hangingPunct="1">
        <a:spcBef>
          <a:spcPct val="0"/>
        </a:spcBef>
        <a:spcAft>
          <a:spcPct val="0"/>
        </a:spcAft>
        <a:defRPr sz="23037">
          <a:solidFill>
            <a:schemeClr val="tx2"/>
          </a:solidFill>
          <a:latin typeface="Times New Roman" charset="0"/>
        </a:defRPr>
      </a:lvl2pPr>
      <a:lvl3pPr algn="ctr" defTabSz="4814009" rtl="0" eaLnBrk="1" fontAlgn="base" hangingPunct="1">
        <a:spcBef>
          <a:spcPct val="0"/>
        </a:spcBef>
        <a:spcAft>
          <a:spcPct val="0"/>
        </a:spcAft>
        <a:defRPr sz="23037">
          <a:solidFill>
            <a:schemeClr val="tx2"/>
          </a:solidFill>
          <a:latin typeface="Times New Roman" charset="0"/>
        </a:defRPr>
      </a:lvl3pPr>
      <a:lvl4pPr algn="ctr" defTabSz="4814009" rtl="0" eaLnBrk="1" fontAlgn="base" hangingPunct="1">
        <a:spcBef>
          <a:spcPct val="0"/>
        </a:spcBef>
        <a:spcAft>
          <a:spcPct val="0"/>
        </a:spcAft>
        <a:defRPr sz="23037">
          <a:solidFill>
            <a:schemeClr val="tx2"/>
          </a:solidFill>
          <a:latin typeface="Times New Roman" charset="0"/>
        </a:defRPr>
      </a:lvl4pPr>
      <a:lvl5pPr algn="ctr" defTabSz="4814009" rtl="0" eaLnBrk="1" fontAlgn="base" hangingPunct="1">
        <a:spcBef>
          <a:spcPct val="0"/>
        </a:spcBef>
        <a:spcAft>
          <a:spcPct val="0"/>
        </a:spcAft>
        <a:defRPr sz="23037">
          <a:solidFill>
            <a:schemeClr val="tx2"/>
          </a:solidFill>
          <a:latin typeface="Times New Roman" charset="0"/>
        </a:defRPr>
      </a:lvl5pPr>
      <a:lvl6pPr marL="1316652" algn="ctr" defTabSz="4814009" rtl="0" eaLnBrk="1" fontAlgn="base" hangingPunct="1">
        <a:spcBef>
          <a:spcPct val="0"/>
        </a:spcBef>
        <a:spcAft>
          <a:spcPct val="0"/>
        </a:spcAft>
        <a:defRPr sz="23037">
          <a:solidFill>
            <a:schemeClr val="tx2"/>
          </a:solidFill>
          <a:latin typeface="Times New Roman" charset="0"/>
        </a:defRPr>
      </a:lvl6pPr>
      <a:lvl7pPr marL="2633302" algn="ctr" defTabSz="4814009" rtl="0" eaLnBrk="1" fontAlgn="base" hangingPunct="1">
        <a:spcBef>
          <a:spcPct val="0"/>
        </a:spcBef>
        <a:spcAft>
          <a:spcPct val="0"/>
        </a:spcAft>
        <a:defRPr sz="23037">
          <a:solidFill>
            <a:schemeClr val="tx2"/>
          </a:solidFill>
          <a:latin typeface="Times New Roman" charset="0"/>
        </a:defRPr>
      </a:lvl7pPr>
      <a:lvl8pPr marL="3949955" algn="ctr" defTabSz="4814009" rtl="0" eaLnBrk="1" fontAlgn="base" hangingPunct="1">
        <a:spcBef>
          <a:spcPct val="0"/>
        </a:spcBef>
        <a:spcAft>
          <a:spcPct val="0"/>
        </a:spcAft>
        <a:defRPr sz="23037">
          <a:solidFill>
            <a:schemeClr val="tx2"/>
          </a:solidFill>
          <a:latin typeface="Times New Roman" charset="0"/>
        </a:defRPr>
      </a:lvl8pPr>
      <a:lvl9pPr marL="5266607" algn="ctr" defTabSz="4814009" rtl="0" eaLnBrk="1" fontAlgn="base" hangingPunct="1">
        <a:spcBef>
          <a:spcPct val="0"/>
        </a:spcBef>
        <a:spcAft>
          <a:spcPct val="0"/>
        </a:spcAft>
        <a:defRPr sz="23037">
          <a:solidFill>
            <a:schemeClr val="tx2"/>
          </a:solidFill>
          <a:latin typeface="Times New Roman" charset="0"/>
        </a:defRPr>
      </a:lvl9pPr>
    </p:titleStyle>
    <p:bodyStyle>
      <a:lvl1pPr marL="1805826" indent="-1805826" algn="l" defTabSz="4814009" rtl="0" eaLnBrk="1" fontAlgn="base" hangingPunct="1">
        <a:spcBef>
          <a:spcPct val="20000"/>
        </a:spcBef>
        <a:spcAft>
          <a:spcPct val="0"/>
        </a:spcAft>
        <a:buChar char="•"/>
        <a:defRPr sz="16992">
          <a:solidFill>
            <a:schemeClr val="tx1"/>
          </a:solidFill>
          <a:latin typeface="+mn-lt"/>
          <a:ea typeface="+mn-ea"/>
          <a:cs typeface="+mn-cs"/>
        </a:defRPr>
      </a:lvl1pPr>
      <a:lvl2pPr marL="3913381" indent="-1504092" algn="l" defTabSz="4814009" rtl="0" eaLnBrk="1" fontAlgn="base" hangingPunct="1">
        <a:spcBef>
          <a:spcPct val="20000"/>
        </a:spcBef>
        <a:spcAft>
          <a:spcPct val="0"/>
        </a:spcAft>
        <a:buChar char="–"/>
        <a:defRPr sz="14688">
          <a:solidFill>
            <a:schemeClr val="tx1"/>
          </a:solidFill>
          <a:latin typeface="+mn-lt"/>
        </a:defRPr>
      </a:lvl2pPr>
      <a:lvl3pPr marL="6020940" indent="-1206930" algn="l" defTabSz="4814009" rtl="0" eaLnBrk="1" fontAlgn="base" hangingPunct="1">
        <a:spcBef>
          <a:spcPct val="20000"/>
        </a:spcBef>
        <a:spcAft>
          <a:spcPct val="0"/>
        </a:spcAft>
        <a:buChar char="•"/>
        <a:defRPr sz="12672">
          <a:solidFill>
            <a:schemeClr val="tx1"/>
          </a:solidFill>
          <a:latin typeface="+mn-lt"/>
        </a:defRPr>
      </a:lvl3pPr>
      <a:lvl4pPr marL="8425659" indent="-1202360" algn="l" defTabSz="4814009" rtl="0" eaLnBrk="1" fontAlgn="base" hangingPunct="1">
        <a:spcBef>
          <a:spcPct val="20000"/>
        </a:spcBef>
        <a:spcAft>
          <a:spcPct val="0"/>
        </a:spcAft>
        <a:buChar char="–"/>
        <a:defRPr sz="10656">
          <a:solidFill>
            <a:schemeClr val="tx1"/>
          </a:solidFill>
          <a:latin typeface="+mn-lt"/>
        </a:defRPr>
      </a:lvl4pPr>
      <a:lvl5pPr marL="10834946" indent="-1206930" algn="l" defTabSz="4814009" rtl="0" eaLnBrk="1" fontAlgn="base" hangingPunct="1">
        <a:spcBef>
          <a:spcPct val="20000"/>
        </a:spcBef>
        <a:spcAft>
          <a:spcPct val="0"/>
        </a:spcAft>
        <a:buChar char="»"/>
        <a:defRPr sz="10656">
          <a:solidFill>
            <a:schemeClr val="tx1"/>
          </a:solidFill>
          <a:latin typeface="+mn-lt"/>
        </a:defRPr>
      </a:lvl5pPr>
      <a:lvl6pPr marL="12151598" indent="-1206930" algn="l" defTabSz="4814009" rtl="0" eaLnBrk="1" fontAlgn="base" hangingPunct="1">
        <a:spcBef>
          <a:spcPct val="20000"/>
        </a:spcBef>
        <a:spcAft>
          <a:spcPct val="0"/>
        </a:spcAft>
        <a:buChar char="»"/>
        <a:defRPr sz="10656">
          <a:solidFill>
            <a:schemeClr val="tx1"/>
          </a:solidFill>
          <a:latin typeface="+mn-lt"/>
        </a:defRPr>
      </a:lvl6pPr>
      <a:lvl7pPr marL="13468251" indent="-1206930" algn="l" defTabSz="4814009" rtl="0" eaLnBrk="1" fontAlgn="base" hangingPunct="1">
        <a:spcBef>
          <a:spcPct val="20000"/>
        </a:spcBef>
        <a:spcAft>
          <a:spcPct val="0"/>
        </a:spcAft>
        <a:buChar char="»"/>
        <a:defRPr sz="10656">
          <a:solidFill>
            <a:schemeClr val="tx1"/>
          </a:solidFill>
          <a:latin typeface="+mn-lt"/>
        </a:defRPr>
      </a:lvl7pPr>
      <a:lvl8pPr marL="14784900" indent="-1206930" algn="l" defTabSz="4814009" rtl="0" eaLnBrk="1" fontAlgn="base" hangingPunct="1">
        <a:spcBef>
          <a:spcPct val="20000"/>
        </a:spcBef>
        <a:spcAft>
          <a:spcPct val="0"/>
        </a:spcAft>
        <a:buChar char="»"/>
        <a:defRPr sz="10656">
          <a:solidFill>
            <a:schemeClr val="tx1"/>
          </a:solidFill>
          <a:latin typeface="+mn-lt"/>
        </a:defRPr>
      </a:lvl8pPr>
      <a:lvl9pPr marL="16101553" indent="-1206930" algn="l" defTabSz="4814009" rtl="0" eaLnBrk="1" fontAlgn="base" hangingPunct="1">
        <a:spcBef>
          <a:spcPct val="20000"/>
        </a:spcBef>
        <a:spcAft>
          <a:spcPct val="0"/>
        </a:spcAft>
        <a:buChar char="»"/>
        <a:defRPr sz="10656">
          <a:solidFill>
            <a:schemeClr val="tx1"/>
          </a:solidFill>
          <a:latin typeface="+mn-lt"/>
        </a:defRPr>
      </a:lvl9pPr>
    </p:bodyStyle>
    <p:otherStyle>
      <a:defPPr>
        <a:defRPr lang="en-US"/>
      </a:defPPr>
      <a:lvl1pPr marL="0" algn="l" defTabSz="2633302" rtl="0" eaLnBrk="1" latinLnBrk="0" hangingPunct="1">
        <a:defRPr sz="5184" kern="1200">
          <a:solidFill>
            <a:schemeClr val="tx1"/>
          </a:solidFill>
          <a:latin typeface="+mn-lt"/>
          <a:ea typeface="+mn-ea"/>
          <a:cs typeface="+mn-cs"/>
        </a:defRPr>
      </a:lvl1pPr>
      <a:lvl2pPr marL="1316652" algn="l" defTabSz="2633302" rtl="0" eaLnBrk="1" latinLnBrk="0" hangingPunct="1">
        <a:defRPr sz="5184" kern="1200">
          <a:solidFill>
            <a:schemeClr val="tx1"/>
          </a:solidFill>
          <a:latin typeface="+mn-lt"/>
          <a:ea typeface="+mn-ea"/>
          <a:cs typeface="+mn-cs"/>
        </a:defRPr>
      </a:lvl2pPr>
      <a:lvl3pPr marL="2633302" algn="l" defTabSz="2633302" rtl="0" eaLnBrk="1" latinLnBrk="0" hangingPunct="1">
        <a:defRPr sz="5184" kern="1200">
          <a:solidFill>
            <a:schemeClr val="tx1"/>
          </a:solidFill>
          <a:latin typeface="+mn-lt"/>
          <a:ea typeface="+mn-ea"/>
          <a:cs typeface="+mn-cs"/>
        </a:defRPr>
      </a:lvl3pPr>
      <a:lvl4pPr marL="3949955" algn="l" defTabSz="2633302" rtl="0" eaLnBrk="1" latinLnBrk="0" hangingPunct="1">
        <a:defRPr sz="5184" kern="1200">
          <a:solidFill>
            <a:schemeClr val="tx1"/>
          </a:solidFill>
          <a:latin typeface="+mn-lt"/>
          <a:ea typeface="+mn-ea"/>
          <a:cs typeface="+mn-cs"/>
        </a:defRPr>
      </a:lvl4pPr>
      <a:lvl5pPr marL="5266607" algn="l" defTabSz="2633302" rtl="0" eaLnBrk="1" latinLnBrk="0" hangingPunct="1">
        <a:defRPr sz="5184" kern="1200">
          <a:solidFill>
            <a:schemeClr val="tx1"/>
          </a:solidFill>
          <a:latin typeface="+mn-lt"/>
          <a:ea typeface="+mn-ea"/>
          <a:cs typeface="+mn-cs"/>
        </a:defRPr>
      </a:lvl5pPr>
      <a:lvl6pPr marL="6583260" algn="l" defTabSz="2633302" rtl="0" eaLnBrk="1" latinLnBrk="0" hangingPunct="1">
        <a:defRPr sz="5184" kern="1200">
          <a:solidFill>
            <a:schemeClr val="tx1"/>
          </a:solidFill>
          <a:latin typeface="+mn-lt"/>
          <a:ea typeface="+mn-ea"/>
          <a:cs typeface="+mn-cs"/>
        </a:defRPr>
      </a:lvl6pPr>
      <a:lvl7pPr marL="7899909" algn="l" defTabSz="2633302" rtl="0" eaLnBrk="1" latinLnBrk="0" hangingPunct="1">
        <a:defRPr sz="5184" kern="1200">
          <a:solidFill>
            <a:schemeClr val="tx1"/>
          </a:solidFill>
          <a:latin typeface="+mn-lt"/>
          <a:ea typeface="+mn-ea"/>
          <a:cs typeface="+mn-cs"/>
        </a:defRPr>
      </a:lvl7pPr>
      <a:lvl8pPr marL="9216562" algn="l" defTabSz="2633302" rtl="0" eaLnBrk="1" latinLnBrk="0" hangingPunct="1">
        <a:defRPr sz="5184" kern="1200">
          <a:solidFill>
            <a:schemeClr val="tx1"/>
          </a:solidFill>
          <a:latin typeface="+mn-lt"/>
          <a:ea typeface="+mn-ea"/>
          <a:cs typeface="+mn-cs"/>
        </a:defRPr>
      </a:lvl8pPr>
      <a:lvl9pPr marL="10533214" algn="l" defTabSz="2633302" rtl="0" eaLnBrk="1" latinLnBrk="0" hangingPunct="1">
        <a:defRPr sz="51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18" Type="http://schemas.openxmlformats.org/officeDocument/2006/relationships/image" Target="../media/image15.png"/><Relationship Id="rId3" Type="http://schemas.openxmlformats.org/officeDocument/2006/relationships/notesSlide" Target="../notesSlides/notesSlide1.xml"/><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4.png"/><Relationship Id="rId2" Type="http://schemas.openxmlformats.org/officeDocument/2006/relationships/slideLayout" Target="../slideLayouts/slideLayout1.xml"/><Relationship Id="rId16" Type="http://schemas.openxmlformats.org/officeDocument/2006/relationships/image" Target="../media/image1.emf"/><Relationship Id="rId1" Type="http://schemas.openxmlformats.org/officeDocument/2006/relationships/tags" Target="../tags/tag5.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eg"/><Relationship Id="rId15" Type="http://schemas.openxmlformats.org/officeDocument/2006/relationships/oleObject" Target="../embeddings/oleObject4.bin"/><Relationship Id="rId10" Type="http://schemas.openxmlformats.org/officeDocument/2006/relationships/image" Target="../media/image9.png"/><Relationship Id="rId19" Type="http://schemas.openxmlformats.org/officeDocument/2006/relationships/image" Target="../media/image16.svg"/><Relationship Id="rId4" Type="http://schemas.microsoft.com/office/2018/10/relationships/comments" Target="../comments/modernComment_102_0.xml"/><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aph of a cancer patient&#10;&#10;AI-generated content may be incorrect.">
            <a:extLst>
              <a:ext uri="{FF2B5EF4-FFF2-40B4-BE49-F238E27FC236}">
                <a16:creationId xmlns:a16="http://schemas.microsoft.com/office/drawing/2014/main" id="{A6C704D0-6755-BFB6-6A0B-C89F303A1C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274297" y="5879020"/>
            <a:ext cx="5106313" cy="5106313"/>
          </a:xfrm>
          <a:prstGeom prst="rect">
            <a:avLst/>
          </a:prstGeom>
        </p:spPr>
      </p:pic>
      <p:pic>
        <p:nvPicPr>
          <p:cNvPr id="12" name="Picture 11" descr="A graph of a patient's profile&#10;&#10;AI-generated content may be incorrect.">
            <a:extLst>
              <a:ext uri="{FF2B5EF4-FFF2-40B4-BE49-F238E27FC236}">
                <a16:creationId xmlns:a16="http://schemas.microsoft.com/office/drawing/2014/main" id="{1276DE82-FFCB-1551-BFCF-09F94D1CB0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287308" y="18116030"/>
            <a:ext cx="6858000" cy="5715000"/>
          </a:xfrm>
          <a:prstGeom prst="rect">
            <a:avLst/>
          </a:prstGeom>
        </p:spPr>
      </p:pic>
      <p:pic>
        <p:nvPicPr>
          <p:cNvPr id="10" name="Picture 9" descr="A diagram of a graph&#10;&#10;AI-generated content may be incorrect.">
            <a:extLst>
              <a:ext uri="{FF2B5EF4-FFF2-40B4-BE49-F238E27FC236}">
                <a16:creationId xmlns:a16="http://schemas.microsoft.com/office/drawing/2014/main" id="{E68B262F-F229-15D8-EFA5-5EB694E16BB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145308" y="18194963"/>
            <a:ext cx="6858000" cy="5715000"/>
          </a:xfrm>
          <a:prstGeom prst="rect">
            <a:avLst/>
          </a:prstGeom>
        </p:spPr>
      </p:pic>
      <p:pic>
        <p:nvPicPr>
          <p:cNvPr id="1030" name="Picture 6">
            <a:extLst>
              <a:ext uri="{FF2B5EF4-FFF2-40B4-BE49-F238E27FC236}">
                <a16:creationId xmlns:a16="http://schemas.microsoft.com/office/drawing/2014/main" id="{7FD44FA5-A5A5-1B4B-670D-3AB2B6B5B3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79284" y="27619950"/>
            <a:ext cx="3439516" cy="3439516"/>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A graph of cancer&#10;&#10;AI-generated content may be incorrect.">
            <a:extLst>
              <a:ext uri="{FF2B5EF4-FFF2-40B4-BE49-F238E27FC236}">
                <a16:creationId xmlns:a16="http://schemas.microsoft.com/office/drawing/2014/main" id="{7B8A6622-F3F7-74D6-7D56-A047A0195AD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171819" y="5713776"/>
            <a:ext cx="6858000" cy="5715000"/>
          </a:xfrm>
          <a:prstGeom prst="rect">
            <a:avLst/>
          </a:prstGeom>
        </p:spPr>
      </p:pic>
      <p:pic>
        <p:nvPicPr>
          <p:cNvPr id="29" name="Picture 28" descr="A graph of a number of patients with tumor&#10;&#10;AI-generated content may be incorrect.">
            <a:extLst>
              <a:ext uri="{FF2B5EF4-FFF2-40B4-BE49-F238E27FC236}">
                <a16:creationId xmlns:a16="http://schemas.microsoft.com/office/drawing/2014/main" id="{A9F22271-DA0C-C8FC-9F79-160784863B0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9313818" y="5713776"/>
            <a:ext cx="6858000" cy="5715000"/>
          </a:xfrm>
          <a:prstGeom prst="rect">
            <a:avLst/>
          </a:prstGeom>
        </p:spPr>
      </p:pic>
      <p:pic>
        <p:nvPicPr>
          <p:cNvPr id="27" name="Picture 26" descr="A graph of cancer cells&#10;&#10;AI-generated content may be incorrect.">
            <a:extLst>
              <a:ext uri="{FF2B5EF4-FFF2-40B4-BE49-F238E27FC236}">
                <a16:creationId xmlns:a16="http://schemas.microsoft.com/office/drawing/2014/main" id="{09E0CFB9-F1B8-3D9C-7964-ABE2831955D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710848" y="21583984"/>
            <a:ext cx="6858000" cy="5715000"/>
          </a:xfrm>
          <a:prstGeom prst="rect">
            <a:avLst/>
          </a:prstGeom>
        </p:spPr>
      </p:pic>
      <p:pic>
        <p:nvPicPr>
          <p:cNvPr id="24" name="Picture 23" descr="A graph of cancer patients&#10;&#10;AI-generated content may be incorrect.">
            <a:extLst>
              <a:ext uri="{FF2B5EF4-FFF2-40B4-BE49-F238E27FC236}">
                <a16:creationId xmlns:a16="http://schemas.microsoft.com/office/drawing/2014/main" id="{A7DC2C6D-B6A1-CF50-FC1D-C6C70B708BF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852848" y="21583984"/>
            <a:ext cx="6858000" cy="5715000"/>
          </a:xfrm>
          <a:prstGeom prst="rect">
            <a:avLst/>
          </a:prstGeom>
        </p:spPr>
      </p:pic>
      <p:pic>
        <p:nvPicPr>
          <p:cNvPr id="22" name="Picture 21" descr="A graph of a number of patients&#10;&#10;AI-generated content may be incorrect.">
            <a:extLst>
              <a:ext uri="{FF2B5EF4-FFF2-40B4-BE49-F238E27FC236}">
                <a16:creationId xmlns:a16="http://schemas.microsoft.com/office/drawing/2014/main" id="{643A0C1D-90C9-0E35-4025-2F0F8E4A6F3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8465697" y="15990186"/>
            <a:ext cx="6858000" cy="5715000"/>
          </a:xfrm>
          <a:prstGeom prst="rect">
            <a:avLst/>
          </a:prstGeom>
        </p:spPr>
      </p:pic>
      <p:sp>
        <p:nvSpPr>
          <p:cNvPr id="3270" name="TextBox 3269">
            <a:extLst>
              <a:ext uri="{FF2B5EF4-FFF2-40B4-BE49-F238E27FC236}">
                <a16:creationId xmlns:a16="http://schemas.microsoft.com/office/drawing/2014/main" id="{26CB0932-B63C-638A-F4E8-3B36601C3CC9}"/>
              </a:ext>
            </a:extLst>
          </p:cNvPr>
          <p:cNvSpPr txBox="1"/>
          <p:nvPr/>
        </p:nvSpPr>
        <p:spPr>
          <a:xfrm>
            <a:off x="618451" y="5691510"/>
            <a:ext cx="13716000" cy="8217634"/>
          </a:xfrm>
          <a:prstGeom prst="rect">
            <a:avLst/>
          </a:prstGeom>
          <a:noFill/>
        </p:spPr>
        <p:txBody>
          <a:bodyPr wrap="square" lIns="45720" tIns="45720" rIns="45720" bIns="45720" rtlCol="0" anchor="t">
            <a:spAutoFit/>
          </a:bodyPr>
          <a:lstStyle/>
          <a:p>
            <a:pPr algn="just"/>
            <a:r>
              <a:rPr lang="en-US" sz="2200">
                <a:latin typeface="Arial"/>
                <a:cs typeface="Arial"/>
              </a:rPr>
              <a:t>The spatial relationship between immune and tumor cells plays a critical role in disease progression and therapeutic response in cancer. While recent advances in spatial transcriptomics and multiplex imaging technologies enable high-resolution mapping of tissue architecture, existing computational approaches often summarize cellular composition globally or focus only on local neighborhood interactions. As a result, spatial heterogeneity across biologically meaningful interfaces, such as the tumor boundary, is frequently overlooked.</a:t>
            </a:r>
          </a:p>
          <a:p>
            <a:pPr algn="just"/>
            <a:r>
              <a:rPr lang="en-US" sz="2200">
                <a:latin typeface="Arial" panose="020B0604020202020204" pitchFamily="34" charset="0"/>
                <a:cs typeface="Arial" panose="020B0604020202020204" pitchFamily="34" charset="0"/>
              </a:rPr>
              <a:t>        To address this limitation, we present H-plot, a quantitative visualization and analytical framework designed to characterize tumor–immune spatial organization in a boundary-resolved manner. H-Plot transforms complex spatial cell distributions into an interpretable heterogeneity profile by stratifying cells according to their distance from the tumor border and computing cell-type proportions within each spatial layer. The method integrates single-cell spatial profiling, Delaunay triangulation-based neighborhood modeling, and cell-function enrichment analysis to quantify how immune cell composition varies across the tumor–stroma interface.</a:t>
            </a:r>
          </a:p>
          <a:p>
            <a:pPr algn="just"/>
            <a:r>
              <a:rPr lang="en-US" sz="2200">
                <a:latin typeface="Arial"/>
                <a:cs typeface="Arial"/>
              </a:rPr>
              <a:t>        Using this framework, spatial heterogeneity can be summarized as a continuous profile that captures gradients of immune infiltration relative to tumor boundaries. This representation enables intuitive visualization and direct comparison of spatial immune organization across patient cohorts, disease states, and treatment conditions.</a:t>
            </a:r>
          </a:p>
          <a:p>
            <a:pPr algn="just"/>
            <a:r>
              <a:rPr lang="en-US" sz="2200">
                <a:latin typeface="Arial"/>
                <a:cs typeface="Arial"/>
              </a:rPr>
              <a:t>        We applied H-Plot to oncology datasets including a metastatic castration-resistant prostate cancer (</a:t>
            </a:r>
            <a:r>
              <a:rPr lang="en-US" sz="2200" err="1">
                <a:latin typeface="Arial"/>
                <a:cs typeface="Arial"/>
              </a:rPr>
              <a:t>mCRPC</a:t>
            </a:r>
            <a:r>
              <a:rPr lang="en-US" sz="2200">
                <a:latin typeface="Arial"/>
                <a:cs typeface="Arial"/>
              </a:rPr>
              <a:t>) cohort and a metastatic colorectal cancer (mCRC) cohort from Tempus and a bladder cancer cohort from the ABACUS study, to investigate immune infiltration patterns associated with tumor progression. Our analysis reveals distinct spatial immune signatures between tumor subtypes and clinical groups, highlighting differences in lymphocyte enrichment near tumor interfaces and broader microenvironmental organization.</a:t>
            </a:r>
          </a:p>
          <a:p>
            <a:pPr algn="just"/>
            <a:r>
              <a:rPr lang="en-US" sz="2200">
                <a:latin typeface="Arial"/>
                <a:cs typeface="Arial"/>
              </a:rPr>
              <a:t>        By converting complex spatial cellular distributions into interpretable boundary-resolved profiles, H-Plot enables systematic quantification of tumor spatial heterogeneity and facilitates the discovery of spatial biomarkers relevant to cancer immunology and therapeutic response.</a:t>
            </a:r>
          </a:p>
        </p:txBody>
      </p:sp>
      <p:pic>
        <p:nvPicPr>
          <p:cNvPr id="3162" name="Picture 3161" descr="A close-up of a diagram&#10;&#10;AI-generated content may be incorrect.">
            <a:extLst>
              <a:ext uri="{FF2B5EF4-FFF2-40B4-BE49-F238E27FC236}">
                <a16:creationId xmlns:a16="http://schemas.microsoft.com/office/drawing/2014/main" id="{3D92CA75-F112-1777-1E09-F7BC17AA1F0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3390968" y="4766107"/>
            <a:ext cx="10335715" cy="7235001"/>
          </a:xfrm>
          <a:prstGeom prst="rect">
            <a:avLst/>
          </a:prstGeom>
        </p:spPr>
      </p:pic>
      <p:graphicFrame>
        <p:nvGraphicFramePr>
          <p:cNvPr id="4" name="Object 3" hidden="1">
            <a:extLst>
              <a:ext uri="{FF2B5EF4-FFF2-40B4-BE49-F238E27FC236}">
                <a16:creationId xmlns:a16="http://schemas.microsoft.com/office/drawing/2014/main" id="{0284DFD2-73FD-4232-9A19-9E65426E51B5}"/>
              </a:ext>
            </a:extLst>
          </p:cNvPr>
          <p:cNvGraphicFramePr>
            <a:graphicFrameLocks noChangeAspect="1"/>
          </p:cNvGraphicFramePr>
          <p:nvPr>
            <p:custDataLst>
              <p:tags r:id="rId1"/>
            </p:custDataLst>
            <p:extLst>
              <p:ext uri="{D42A27DB-BD31-4B8C-83A1-F6EECF244321}">
                <p14:modId xmlns:p14="http://schemas.microsoft.com/office/powerpoint/2010/main" val="3180237492"/>
              </p:ext>
            </p:extLst>
          </p:nvPr>
        </p:nvGraphicFramePr>
        <p:xfrm>
          <a:off x="5490974" y="4574"/>
          <a:ext cx="4573" cy="4573"/>
        </p:xfrm>
        <a:graphic>
          <a:graphicData uri="http://schemas.openxmlformats.org/presentationml/2006/ole">
            <mc:AlternateContent xmlns:mc="http://schemas.openxmlformats.org/markup-compatibility/2006">
              <mc:Choice xmlns:v="urn:schemas-microsoft-com:vml" Requires="v">
                <p:oleObj name="think-cell Slide" r:id="rId15" imgW="347" imgH="348" progId="TCLayout.ActiveDocument.1">
                  <p:embed/>
                </p:oleObj>
              </mc:Choice>
              <mc:Fallback>
                <p:oleObj name="think-cell Slide" r:id="rId15" imgW="347" imgH="348" progId="TCLayout.ActiveDocument.1">
                  <p:embed/>
                  <p:pic>
                    <p:nvPicPr>
                      <p:cNvPr id="4" name="Object 3" hidden="1">
                        <a:extLst>
                          <a:ext uri="{FF2B5EF4-FFF2-40B4-BE49-F238E27FC236}">
                            <a16:creationId xmlns:a16="http://schemas.microsoft.com/office/drawing/2014/main" id="{0284DFD2-73FD-4232-9A19-9E65426E51B5}"/>
                          </a:ext>
                        </a:extLst>
                      </p:cNvPr>
                      <p:cNvPicPr/>
                      <p:nvPr/>
                    </p:nvPicPr>
                    <p:blipFill>
                      <a:blip r:embed="rId16"/>
                      <a:stretch>
                        <a:fillRect/>
                      </a:stretch>
                    </p:blipFill>
                    <p:spPr>
                      <a:xfrm>
                        <a:off x="5490974" y="4574"/>
                        <a:ext cx="4573" cy="4573"/>
                      </a:xfrm>
                      <a:prstGeom prst="rect">
                        <a:avLst/>
                      </a:prstGeom>
                    </p:spPr>
                  </p:pic>
                </p:oleObj>
              </mc:Fallback>
            </mc:AlternateContent>
          </a:graphicData>
        </a:graphic>
      </p:graphicFrame>
      <p:sp>
        <p:nvSpPr>
          <p:cNvPr id="3074" name="Text Box 9">
            <a:extLst>
              <a:ext uri="{FF2B5EF4-FFF2-40B4-BE49-F238E27FC236}">
                <a16:creationId xmlns:a16="http://schemas.microsoft.com/office/drawing/2014/main" id="{7FFFAD84-73A6-4780-9DD0-EB9B854D37D6}"/>
              </a:ext>
            </a:extLst>
          </p:cNvPr>
          <p:cNvSpPr txBox="1">
            <a:spLocks noChangeArrowheads="1"/>
          </p:cNvSpPr>
          <p:nvPr/>
        </p:nvSpPr>
        <p:spPr bwMode="auto">
          <a:xfrm>
            <a:off x="863601" y="448967"/>
            <a:ext cx="3165704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6000" b="1" dirty="0">
                <a:solidFill>
                  <a:schemeClr val="accent1"/>
                </a:solidFill>
                <a:latin typeface="Arial"/>
                <a:cs typeface="Arial"/>
              </a:rPr>
              <a:t>H-plot: A Quantitative Approach to Profiling Spatial Immune Heterogeneity</a:t>
            </a:r>
            <a:br>
              <a:rPr lang="en-US" altLang="en-US" sz="6000" b="1" dirty="0">
                <a:latin typeface="Arial" panose="020B0604020202020204" pitchFamily="34" charset="0"/>
                <a:cs typeface="Arial" panose="020B0604020202020204" pitchFamily="34" charset="0"/>
              </a:rPr>
            </a:br>
            <a:r>
              <a:rPr lang="en-US" altLang="en-US" sz="6000" b="1" dirty="0">
                <a:solidFill>
                  <a:schemeClr val="accent1"/>
                </a:solidFill>
                <a:latin typeface="Arial"/>
                <a:cs typeface="Arial"/>
              </a:rPr>
              <a:t>and its Applications in Oncology Studies</a:t>
            </a:r>
          </a:p>
          <a:p>
            <a:r>
              <a:rPr lang="en-US" dirty="0"/>
              <a:t>Chao-Hui Huang</a:t>
            </a:r>
            <a:r>
              <a:rPr lang="en-US" baseline="30000" dirty="0"/>
              <a:t>1</a:t>
            </a:r>
            <a:r>
              <a:rPr lang="en-US" dirty="0"/>
              <a:t>, Jadwiga R. Bienkowska</a:t>
            </a:r>
            <a:r>
              <a:rPr lang="en-US" baseline="30000" dirty="0"/>
              <a:t>1</a:t>
            </a:r>
            <a:r>
              <a:rPr lang="en-US" dirty="0"/>
              <a:t>, Diane Fernandez</a:t>
            </a:r>
            <a:r>
              <a:rPr lang="en-US" baseline="30000" dirty="0"/>
              <a:t>1</a:t>
            </a:r>
            <a:r>
              <a:rPr lang="en-US" dirty="0"/>
              <a:t>, Sara B. Linker</a:t>
            </a:r>
            <a:r>
              <a:rPr lang="en-US" baseline="30000" dirty="0"/>
              <a:t>1</a:t>
            </a:r>
            <a:r>
              <a:rPr lang="en-US" dirty="0"/>
              <a:t>, Xinmeng Jasmine Mu</a:t>
            </a:r>
            <a:r>
              <a:rPr lang="en-US" baseline="30000" dirty="0"/>
              <a:t>1</a:t>
            </a:r>
            <a:r>
              <a:rPr lang="en-US" dirty="0"/>
              <a:t>, Robbin Nameki</a:t>
            </a:r>
            <a:r>
              <a:rPr lang="en-US" baseline="30000" dirty="0"/>
              <a:t>1</a:t>
            </a:r>
            <a:r>
              <a:rPr lang="en-US" dirty="0"/>
              <a:t>, Jennifer Kinong</a:t>
            </a:r>
            <a:r>
              <a:rPr lang="en-US" baseline="30000" dirty="0"/>
              <a:t>1</a:t>
            </a:r>
            <a:r>
              <a:rPr lang="en-US" dirty="0"/>
              <a:t>, Michelle Saul</a:t>
            </a:r>
            <a:r>
              <a:rPr lang="en-US" baseline="30000" dirty="0"/>
              <a:t>2</a:t>
            </a:r>
            <a:r>
              <a:rPr lang="en-US" dirty="0"/>
              <a:t>, Aakash Sur</a:t>
            </a:r>
            <a:r>
              <a:rPr lang="en-US" baseline="30000" dirty="0"/>
              <a:t>1</a:t>
            </a:r>
            <a:r>
              <a:rPr lang="en-US" dirty="0"/>
              <a:t>, Mehmet Tekman</a:t>
            </a:r>
            <a:r>
              <a:rPr lang="en-US" baseline="30000" dirty="0"/>
              <a:t>1</a:t>
            </a:r>
            <a:r>
              <a:rPr lang="en-US" dirty="0"/>
              <a:t>, Alexander Trageser</a:t>
            </a:r>
            <a:r>
              <a:rPr lang="en-US" baseline="30000" dirty="0"/>
              <a:t>1</a:t>
            </a:r>
            <a:r>
              <a:rPr lang="en-US" dirty="0"/>
              <a:t>, Wenjing Yang</a:t>
            </a:r>
            <a:r>
              <a:rPr lang="en-US" baseline="30000" dirty="0"/>
              <a:t>1</a:t>
            </a:r>
            <a:r>
              <a:rPr lang="en-US" dirty="0"/>
              <a:t>, Daniel Chawla</a:t>
            </a:r>
            <a:r>
              <a:rPr lang="en-US" baseline="30000" dirty="0"/>
              <a:t>1</a:t>
            </a:r>
            <a:r>
              <a:rPr lang="en-US" dirty="0"/>
              <a:t>,</a:t>
            </a:r>
            <a:br>
              <a:rPr lang="en-US" dirty="0"/>
            </a:br>
            <a:r>
              <a:rPr lang="en-US" dirty="0"/>
              <a:t>Arne Schmidt</a:t>
            </a:r>
            <a:r>
              <a:rPr lang="en-US" baseline="30000" dirty="0"/>
              <a:t>3</a:t>
            </a:r>
            <a:r>
              <a:rPr lang="en-US" dirty="0"/>
              <a:t>, Alberto M. Gonzalo</a:t>
            </a:r>
            <a:r>
              <a:rPr lang="en-US" baseline="30000" dirty="0"/>
              <a:t>3</a:t>
            </a:r>
            <a:r>
              <a:rPr lang="en-US" dirty="0"/>
              <a:t>, Srishti M. Mehta</a:t>
            </a:r>
            <a:r>
              <a:rPr lang="en-US" baseline="30000" dirty="0"/>
              <a:t>3</a:t>
            </a:r>
            <a:r>
              <a:rPr lang="en-US" dirty="0"/>
              <a:t>, Rosemarie Krupar</a:t>
            </a:r>
            <a:r>
              <a:rPr lang="en-US" baseline="30000" dirty="0"/>
              <a:t>3</a:t>
            </a:r>
            <a:r>
              <a:rPr lang="en-US" dirty="0"/>
              <a:t>, Nina Kozar-Gillan</a:t>
            </a:r>
            <a:r>
              <a:rPr lang="en-US" baseline="30000" dirty="0"/>
              <a:t>3</a:t>
            </a:r>
            <a:r>
              <a:rPr lang="en-US" dirty="0"/>
              <a:t>, Sophie Laturnus</a:t>
            </a:r>
            <a:r>
              <a:rPr lang="en-US" baseline="30000" dirty="0"/>
              <a:t>3</a:t>
            </a:r>
            <a:r>
              <a:rPr lang="en-US" dirty="0"/>
              <a:t>, Cornelius Böhm</a:t>
            </a:r>
            <a:r>
              <a:rPr lang="en-US" baseline="30000" dirty="0"/>
              <a:t>3</a:t>
            </a:r>
            <a:r>
              <a:rPr lang="en-US" dirty="0"/>
              <a:t>, Marija Pezer</a:t>
            </a:r>
            <a:r>
              <a:rPr lang="en-US" baseline="30000" dirty="0"/>
              <a:t>3</a:t>
            </a:r>
            <a:r>
              <a:rPr lang="en-US" dirty="0"/>
              <a:t>, Gloria H.Y. Lin</a:t>
            </a:r>
            <a:r>
              <a:rPr lang="en-US" baseline="30000" dirty="0"/>
              <a:t>3</a:t>
            </a:r>
            <a:r>
              <a:rPr lang="en-US" dirty="0"/>
              <a:t>, Darlan C. Minussi</a:t>
            </a:r>
            <a:r>
              <a:rPr lang="en-US" baseline="30000" dirty="0"/>
              <a:t>1</a:t>
            </a:r>
            <a:r>
              <a:rPr lang="en-US" dirty="0"/>
              <a:t>, Greg Szeto</a:t>
            </a:r>
            <a:r>
              <a:rPr lang="en-US" baseline="30000" dirty="0"/>
              <a:t>2</a:t>
            </a:r>
            <a:r>
              <a:rPr lang="en-US" dirty="0"/>
              <a:t>, Keith Ching</a:t>
            </a:r>
            <a:r>
              <a:rPr lang="en-US" baseline="30000" dirty="0"/>
              <a:t>1</a:t>
            </a:r>
            <a:r>
              <a:rPr lang="en-US" dirty="0"/>
              <a:t>, Thomas Powles</a:t>
            </a:r>
            <a:r>
              <a:rPr lang="en-US" baseline="30000" dirty="0"/>
              <a:t>4</a:t>
            </a:r>
            <a:r>
              <a:rPr lang="en-US" dirty="0"/>
              <a:t>, Craig B. Davis</a:t>
            </a:r>
            <a:r>
              <a:rPr lang="en-US" baseline="30000" dirty="0"/>
              <a:t>5</a:t>
            </a:r>
            <a:endParaRPr lang="en-US" dirty="0"/>
          </a:p>
        </p:txBody>
      </p:sp>
      <p:sp>
        <p:nvSpPr>
          <p:cNvPr id="3141" name="Rectangle 114">
            <a:extLst>
              <a:ext uri="{FF2B5EF4-FFF2-40B4-BE49-F238E27FC236}">
                <a16:creationId xmlns:a16="http://schemas.microsoft.com/office/drawing/2014/main" id="{FF9D60F7-6A5C-4106-166B-12DAE5DB5EC6}"/>
              </a:ext>
            </a:extLst>
          </p:cNvPr>
          <p:cNvSpPr>
            <a:spLocks noChangeArrowheads="1"/>
          </p:cNvSpPr>
          <p:nvPr/>
        </p:nvSpPr>
        <p:spPr bwMode="auto">
          <a:xfrm>
            <a:off x="565860" y="5015757"/>
            <a:ext cx="13716000" cy="619521"/>
          </a:xfrm>
          <a:prstGeom prst="rect">
            <a:avLst/>
          </a:prstGeom>
          <a:noFill/>
          <a:ln>
            <a:noFill/>
          </a:ln>
        </p:spPr>
        <p:txBody>
          <a:bodyPr lIns="263347" rIns="263347" anchor="ctr"/>
          <a:lstStyle>
            <a:lvl1pPr defTabSz="4702175">
              <a:defRPr sz="2400">
                <a:solidFill>
                  <a:schemeClr val="tx1"/>
                </a:solidFill>
                <a:latin typeface="Times New Roman" panose="02020603050405020304" pitchFamily="18" charset="0"/>
              </a:defRPr>
            </a:lvl1pPr>
            <a:lvl2pPr marL="742950" indent="-285750" defTabSz="4702175">
              <a:defRPr sz="2400">
                <a:solidFill>
                  <a:schemeClr val="tx1"/>
                </a:solidFill>
                <a:latin typeface="Times New Roman" panose="02020603050405020304" pitchFamily="18" charset="0"/>
              </a:defRPr>
            </a:lvl2pPr>
            <a:lvl3pPr marL="1143000" indent="-228600" defTabSz="4702175">
              <a:defRPr sz="2400">
                <a:solidFill>
                  <a:schemeClr val="tx1"/>
                </a:solidFill>
                <a:latin typeface="Times New Roman" panose="02020603050405020304" pitchFamily="18" charset="0"/>
              </a:defRPr>
            </a:lvl3pPr>
            <a:lvl4pPr marL="1600200" indent="-228600" defTabSz="4702175">
              <a:defRPr sz="2400">
                <a:solidFill>
                  <a:schemeClr val="tx1"/>
                </a:solidFill>
                <a:latin typeface="Times New Roman" panose="02020603050405020304" pitchFamily="18" charset="0"/>
              </a:defRPr>
            </a:lvl4pPr>
            <a:lvl5pPr marL="2057400" indent="-228600" defTabSz="4702175">
              <a:defRPr sz="2400">
                <a:solidFill>
                  <a:schemeClr val="tx1"/>
                </a:solidFill>
                <a:latin typeface="Times New Roman" panose="02020603050405020304" pitchFamily="18" charset="0"/>
              </a:defRPr>
            </a:lvl5pPr>
            <a:lvl6pPr marL="2514600" indent="-228600" defTabSz="4702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702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702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7021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460" b="1">
                <a:solidFill>
                  <a:schemeClr val="accent1"/>
                </a:solidFill>
                <a:latin typeface="Arial" panose="020B0604020202020204" pitchFamily="34" charset="0"/>
                <a:cs typeface="Arial" panose="020B0604020202020204" pitchFamily="34" charset="0"/>
              </a:rPr>
              <a:t>Abstract</a:t>
            </a:r>
          </a:p>
        </p:txBody>
      </p:sp>
      <p:sp>
        <p:nvSpPr>
          <p:cNvPr id="3257" name="Rectangle 114">
            <a:extLst>
              <a:ext uri="{FF2B5EF4-FFF2-40B4-BE49-F238E27FC236}">
                <a16:creationId xmlns:a16="http://schemas.microsoft.com/office/drawing/2014/main" id="{314DBA22-E5E2-4450-3FC9-E11CCCB1F7EA}"/>
              </a:ext>
            </a:extLst>
          </p:cNvPr>
          <p:cNvSpPr>
            <a:spLocks noChangeArrowheads="1"/>
          </p:cNvSpPr>
          <p:nvPr/>
        </p:nvSpPr>
        <p:spPr bwMode="auto">
          <a:xfrm>
            <a:off x="15405821" y="5015757"/>
            <a:ext cx="13716000" cy="619521"/>
          </a:xfrm>
          <a:prstGeom prst="rect">
            <a:avLst/>
          </a:prstGeom>
          <a:noFill/>
          <a:ln>
            <a:noFill/>
          </a:ln>
        </p:spPr>
        <p:txBody>
          <a:bodyPr lIns="263347" rIns="263347" anchor="ctr"/>
          <a:lstStyle>
            <a:lvl1pPr defTabSz="4702175">
              <a:defRPr sz="2400">
                <a:solidFill>
                  <a:schemeClr val="tx1"/>
                </a:solidFill>
                <a:latin typeface="Times New Roman" panose="02020603050405020304" pitchFamily="18" charset="0"/>
              </a:defRPr>
            </a:lvl1pPr>
            <a:lvl2pPr marL="742950" indent="-285750" defTabSz="4702175">
              <a:defRPr sz="2400">
                <a:solidFill>
                  <a:schemeClr val="tx1"/>
                </a:solidFill>
                <a:latin typeface="Times New Roman" panose="02020603050405020304" pitchFamily="18" charset="0"/>
              </a:defRPr>
            </a:lvl2pPr>
            <a:lvl3pPr marL="1143000" indent="-228600" defTabSz="4702175">
              <a:defRPr sz="2400">
                <a:solidFill>
                  <a:schemeClr val="tx1"/>
                </a:solidFill>
                <a:latin typeface="Times New Roman" panose="02020603050405020304" pitchFamily="18" charset="0"/>
              </a:defRPr>
            </a:lvl3pPr>
            <a:lvl4pPr marL="1600200" indent="-228600" defTabSz="4702175">
              <a:defRPr sz="2400">
                <a:solidFill>
                  <a:schemeClr val="tx1"/>
                </a:solidFill>
                <a:latin typeface="Times New Roman" panose="02020603050405020304" pitchFamily="18" charset="0"/>
              </a:defRPr>
            </a:lvl4pPr>
            <a:lvl5pPr marL="2057400" indent="-228600" defTabSz="4702175">
              <a:defRPr sz="2400">
                <a:solidFill>
                  <a:schemeClr val="tx1"/>
                </a:solidFill>
                <a:latin typeface="Times New Roman" panose="02020603050405020304" pitchFamily="18" charset="0"/>
              </a:defRPr>
            </a:lvl5pPr>
            <a:lvl6pPr marL="2514600" indent="-228600" defTabSz="4702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702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702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7021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460" b="1">
                <a:solidFill>
                  <a:schemeClr val="accent1"/>
                </a:solidFill>
                <a:latin typeface="Arial" panose="020B0604020202020204" pitchFamily="34" charset="0"/>
                <a:cs typeface="Arial" panose="020B0604020202020204" pitchFamily="34" charset="0"/>
              </a:rPr>
              <a:t>H-plot for Spatial Immune Heterogeneity Profiling</a:t>
            </a:r>
          </a:p>
        </p:txBody>
      </p:sp>
      <p:sp>
        <p:nvSpPr>
          <p:cNvPr id="3260" name="Rectangle 114">
            <a:extLst>
              <a:ext uri="{FF2B5EF4-FFF2-40B4-BE49-F238E27FC236}">
                <a16:creationId xmlns:a16="http://schemas.microsoft.com/office/drawing/2014/main" id="{8CA045A3-65BA-658C-714D-FB43A8474792}"/>
              </a:ext>
            </a:extLst>
          </p:cNvPr>
          <p:cNvSpPr>
            <a:spLocks noChangeArrowheads="1"/>
          </p:cNvSpPr>
          <p:nvPr/>
        </p:nvSpPr>
        <p:spPr bwMode="auto">
          <a:xfrm>
            <a:off x="29609341" y="5015757"/>
            <a:ext cx="13716000" cy="619521"/>
          </a:xfrm>
          <a:prstGeom prst="rect">
            <a:avLst/>
          </a:prstGeom>
          <a:noFill/>
          <a:ln>
            <a:noFill/>
          </a:ln>
        </p:spPr>
        <p:txBody>
          <a:bodyPr lIns="263347" rIns="263347" anchor="ctr"/>
          <a:lstStyle>
            <a:lvl1pPr defTabSz="4702175">
              <a:defRPr sz="2400">
                <a:solidFill>
                  <a:schemeClr val="tx1"/>
                </a:solidFill>
                <a:latin typeface="Times New Roman" panose="02020603050405020304" pitchFamily="18" charset="0"/>
              </a:defRPr>
            </a:lvl1pPr>
            <a:lvl2pPr marL="742950" indent="-285750" defTabSz="4702175">
              <a:defRPr sz="2400">
                <a:solidFill>
                  <a:schemeClr val="tx1"/>
                </a:solidFill>
                <a:latin typeface="Times New Roman" panose="02020603050405020304" pitchFamily="18" charset="0"/>
              </a:defRPr>
            </a:lvl2pPr>
            <a:lvl3pPr marL="1143000" indent="-228600" defTabSz="4702175">
              <a:defRPr sz="2400">
                <a:solidFill>
                  <a:schemeClr val="tx1"/>
                </a:solidFill>
                <a:latin typeface="Times New Roman" panose="02020603050405020304" pitchFamily="18" charset="0"/>
              </a:defRPr>
            </a:lvl3pPr>
            <a:lvl4pPr marL="1600200" indent="-228600" defTabSz="4702175">
              <a:defRPr sz="2400">
                <a:solidFill>
                  <a:schemeClr val="tx1"/>
                </a:solidFill>
                <a:latin typeface="Times New Roman" panose="02020603050405020304" pitchFamily="18" charset="0"/>
              </a:defRPr>
            </a:lvl4pPr>
            <a:lvl5pPr marL="2057400" indent="-228600" defTabSz="4702175">
              <a:defRPr sz="2400">
                <a:solidFill>
                  <a:schemeClr val="tx1"/>
                </a:solidFill>
                <a:latin typeface="Times New Roman" panose="02020603050405020304" pitchFamily="18" charset="0"/>
              </a:defRPr>
            </a:lvl5pPr>
            <a:lvl6pPr marL="2514600" indent="-228600" defTabSz="4702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702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702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7021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460" b="1">
                <a:solidFill>
                  <a:schemeClr val="accent1"/>
                </a:solidFill>
                <a:latin typeface="Arial" panose="020B0604020202020204" pitchFamily="34" charset="0"/>
                <a:cs typeface="Arial" panose="020B0604020202020204" pitchFamily="34" charset="0"/>
              </a:rPr>
              <a:t>Metastatic Colorectal Cancer Study</a:t>
            </a:r>
          </a:p>
        </p:txBody>
      </p:sp>
      <p:sp>
        <p:nvSpPr>
          <p:cNvPr id="3363" name="Rectangle 114">
            <a:extLst>
              <a:ext uri="{FF2B5EF4-FFF2-40B4-BE49-F238E27FC236}">
                <a16:creationId xmlns:a16="http://schemas.microsoft.com/office/drawing/2014/main" id="{92C7A23C-BE5B-232A-9F96-15325798D39C}"/>
              </a:ext>
            </a:extLst>
          </p:cNvPr>
          <p:cNvSpPr>
            <a:spLocks noChangeArrowheads="1"/>
          </p:cNvSpPr>
          <p:nvPr/>
        </p:nvSpPr>
        <p:spPr bwMode="auto">
          <a:xfrm>
            <a:off x="14879839" y="15445686"/>
            <a:ext cx="13751065" cy="523221"/>
          </a:xfrm>
          <a:prstGeom prst="rect">
            <a:avLst/>
          </a:prstGeom>
          <a:noFill/>
          <a:ln>
            <a:noFill/>
          </a:ln>
        </p:spPr>
        <p:txBody>
          <a:bodyPr lIns="263347" rIns="263347" anchor="ctr"/>
          <a:lstStyle>
            <a:lvl1pPr defTabSz="4702175">
              <a:defRPr sz="2400">
                <a:solidFill>
                  <a:schemeClr val="tx1"/>
                </a:solidFill>
                <a:latin typeface="Times New Roman" panose="02020603050405020304" pitchFamily="18" charset="0"/>
              </a:defRPr>
            </a:lvl1pPr>
            <a:lvl2pPr marL="742950" indent="-285750" defTabSz="4702175">
              <a:defRPr sz="2400">
                <a:solidFill>
                  <a:schemeClr val="tx1"/>
                </a:solidFill>
                <a:latin typeface="Times New Roman" panose="02020603050405020304" pitchFamily="18" charset="0"/>
              </a:defRPr>
            </a:lvl2pPr>
            <a:lvl3pPr marL="1143000" indent="-228600" defTabSz="4702175">
              <a:defRPr sz="2400">
                <a:solidFill>
                  <a:schemeClr val="tx1"/>
                </a:solidFill>
                <a:latin typeface="Times New Roman" panose="02020603050405020304" pitchFamily="18" charset="0"/>
              </a:defRPr>
            </a:lvl3pPr>
            <a:lvl4pPr marL="1600200" indent="-228600" defTabSz="4702175">
              <a:defRPr sz="2400">
                <a:solidFill>
                  <a:schemeClr val="tx1"/>
                </a:solidFill>
                <a:latin typeface="Times New Roman" panose="02020603050405020304" pitchFamily="18" charset="0"/>
              </a:defRPr>
            </a:lvl4pPr>
            <a:lvl5pPr marL="2057400" indent="-228600" defTabSz="4702175">
              <a:defRPr sz="2400">
                <a:solidFill>
                  <a:schemeClr val="tx1"/>
                </a:solidFill>
                <a:latin typeface="Times New Roman" panose="02020603050405020304" pitchFamily="18" charset="0"/>
              </a:defRPr>
            </a:lvl5pPr>
            <a:lvl6pPr marL="2514600" indent="-228600" defTabSz="4702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702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702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7021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460" b="1">
                <a:solidFill>
                  <a:schemeClr val="accent1"/>
                </a:solidFill>
                <a:latin typeface="Arial" panose="020B0604020202020204" pitchFamily="34" charset="0"/>
                <a:cs typeface="Arial" panose="020B0604020202020204" pitchFamily="34" charset="0"/>
              </a:rPr>
              <a:t>Metastatic Castrate-Resistant Prostate Cancer  </a:t>
            </a:r>
          </a:p>
        </p:txBody>
      </p:sp>
      <p:sp>
        <p:nvSpPr>
          <p:cNvPr id="3498" name="TextBox 3497">
            <a:extLst>
              <a:ext uri="{FF2B5EF4-FFF2-40B4-BE49-F238E27FC236}">
                <a16:creationId xmlns:a16="http://schemas.microsoft.com/office/drawing/2014/main" id="{B009B7F0-D518-9850-1360-BAEBB20B251B}"/>
              </a:ext>
            </a:extLst>
          </p:cNvPr>
          <p:cNvSpPr txBox="1"/>
          <p:nvPr/>
        </p:nvSpPr>
        <p:spPr>
          <a:xfrm>
            <a:off x="14876813" y="27175314"/>
            <a:ext cx="13716000" cy="3816429"/>
          </a:xfrm>
          <a:prstGeom prst="rect">
            <a:avLst/>
          </a:prstGeom>
          <a:noFill/>
        </p:spPr>
        <p:txBody>
          <a:bodyPr wrap="square" rtlCol="0">
            <a:spAutoFit/>
          </a:bodyPr>
          <a:lstStyle/>
          <a:p>
            <a:pPr marL="457200" indent="-457200" algn="just">
              <a:buAutoNum type="alphaLcParenBoth"/>
            </a:pPr>
            <a:r>
              <a:rPr lang="en-US" sz="2200">
                <a:latin typeface="Arial" panose="020B0604020202020204" pitchFamily="34" charset="0"/>
                <a:cs typeface="Arial" panose="020B0604020202020204" pitchFamily="34" charset="0"/>
              </a:rPr>
              <a:t>Consistent with RNA-seq–derived immune signatures, prostate cancer biopsies collected prior to NHT treatment exhibited a lower overall proportion of immune cells near the tumor border compared to those obtained after progression on NHTs. This suggests that the tumor microenvironment becomes more immunologically active, or “hotter”, upon progression. Given the enrichment of metastatic tumors post-NHT progression, we next stratified samples by tumor location. </a:t>
            </a:r>
          </a:p>
          <a:p>
            <a:pPr marL="457200" indent="-457200" algn="just">
              <a:buAutoNum type="alphaLcParenBoth"/>
            </a:pPr>
            <a:r>
              <a:rPr lang="en-US" sz="2200">
                <a:latin typeface="Arial" panose="020B0604020202020204" pitchFamily="34" charset="0"/>
                <a:cs typeface="Arial" panose="020B0604020202020204" pitchFamily="34" charset="0"/>
              </a:rPr>
              <a:t>As anticipated, biopsies from metastatic sites demonstrated higher immune cell densities both adjacent to and distal from the tumor border. To further explore spatial heterogeneity, we assessed immune distribution across different metastatic sites. </a:t>
            </a:r>
          </a:p>
          <a:p>
            <a:pPr marL="457200" indent="-457200" algn="just">
              <a:buAutoNum type="alphaLcParenBoth"/>
            </a:pPr>
            <a:r>
              <a:rPr lang="en-US" sz="2200">
                <a:latin typeface="Arial" panose="020B0604020202020204" pitchFamily="34" charset="0"/>
                <a:cs typeface="Arial" panose="020B0604020202020204" pitchFamily="34" charset="0"/>
              </a:rPr>
              <a:t>Across metastatic tissue sites, lymph node samples exhibited the highest immune cell proportions across spatial layers, followed by other metastatic tissues. This pattern likely reflects differences in the inherent immune composition of the host tissues rather than prostate cancer–specific effects.</a:t>
            </a:r>
          </a:p>
        </p:txBody>
      </p:sp>
      <p:sp>
        <p:nvSpPr>
          <p:cNvPr id="25" name="TextBox 24">
            <a:extLst>
              <a:ext uri="{FF2B5EF4-FFF2-40B4-BE49-F238E27FC236}">
                <a16:creationId xmlns:a16="http://schemas.microsoft.com/office/drawing/2014/main" id="{C7D03BDE-5991-A2EA-5C59-096FC14CA247}"/>
              </a:ext>
            </a:extLst>
          </p:cNvPr>
          <p:cNvSpPr txBox="1"/>
          <p:nvPr/>
        </p:nvSpPr>
        <p:spPr>
          <a:xfrm>
            <a:off x="5248903" y="3314623"/>
            <a:ext cx="26093056" cy="830997"/>
          </a:xfrm>
          <a:prstGeom prst="rect">
            <a:avLst/>
          </a:prstGeom>
          <a:noFill/>
        </p:spPr>
        <p:txBody>
          <a:bodyPr wrap="square">
            <a:spAutoFit/>
          </a:bodyPr>
          <a:lstStyle/>
          <a:p>
            <a:pPr lvl="0"/>
            <a:r>
              <a:rPr lang="en-US" sz="2400"/>
              <a:t>4. Barts Cancer Institute, Experimental Cancer Medicine Centre, Queen Mary University of London, St. Batholomew’s Hospital, Charterhouse Square, London EC1M 6BQ, UK</a:t>
            </a:r>
          </a:p>
          <a:p>
            <a:pPr lvl="0"/>
            <a:r>
              <a:rPr lang="en-US" sz="2400"/>
              <a:t>5. Sage Healthcare Insights, Minnetonka, MN</a:t>
            </a:r>
          </a:p>
        </p:txBody>
      </p:sp>
      <p:sp>
        <p:nvSpPr>
          <p:cNvPr id="59" name="Rectangle 114">
            <a:extLst>
              <a:ext uri="{FF2B5EF4-FFF2-40B4-BE49-F238E27FC236}">
                <a16:creationId xmlns:a16="http://schemas.microsoft.com/office/drawing/2014/main" id="{19F33CD9-3C07-4670-E6B0-2A797EEDD6D2}"/>
              </a:ext>
            </a:extLst>
          </p:cNvPr>
          <p:cNvSpPr>
            <a:spLocks noChangeArrowheads="1"/>
          </p:cNvSpPr>
          <p:nvPr/>
        </p:nvSpPr>
        <p:spPr bwMode="auto">
          <a:xfrm>
            <a:off x="618451" y="14464733"/>
            <a:ext cx="13716000" cy="619521"/>
          </a:xfrm>
          <a:prstGeom prst="rect">
            <a:avLst/>
          </a:prstGeom>
          <a:noFill/>
          <a:ln>
            <a:noFill/>
          </a:ln>
        </p:spPr>
        <p:txBody>
          <a:bodyPr lIns="263347" rIns="263347" anchor="ctr"/>
          <a:lstStyle>
            <a:lvl1pPr defTabSz="4702175">
              <a:defRPr sz="2400">
                <a:solidFill>
                  <a:schemeClr val="tx1"/>
                </a:solidFill>
                <a:latin typeface="Times New Roman" panose="02020603050405020304" pitchFamily="18" charset="0"/>
              </a:defRPr>
            </a:lvl1pPr>
            <a:lvl2pPr marL="742950" indent="-285750" defTabSz="4702175">
              <a:defRPr sz="2400">
                <a:solidFill>
                  <a:schemeClr val="tx1"/>
                </a:solidFill>
                <a:latin typeface="Times New Roman" panose="02020603050405020304" pitchFamily="18" charset="0"/>
              </a:defRPr>
            </a:lvl2pPr>
            <a:lvl3pPr marL="1143000" indent="-228600" defTabSz="4702175">
              <a:defRPr sz="2400">
                <a:solidFill>
                  <a:schemeClr val="tx1"/>
                </a:solidFill>
                <a:latin typeface="Times New Roman" panose="02020603050405020304" pitchFamily="18" charset="0"/>
              </a:defRPr>
            </a:lvl3pPr>
            <a:lvl4pPr marL="1600200" indent="-228600" defTabSz="4702175">
              <a:defRPr sz="2400">
                <a:solidFill>
                  <a:schemeClr val="tx1"/>
                </a:solidFill>
                <a:latin typeface="Times New Roman" panose="02020603050405020304" pitchFamily="18" charset="0"/>
              </a:defRPr>
            </a:lvl4pPr>
            <a:lvl5pPr marL="2057400" indent="-228600" defTabSz="4702175">
              <a:defRPr sz="2400">
                <a:solidFill>
                  <a:schemeClr val="tx1"/>
                </a:solidFill>
                <a:latin typeface="Times New Roman" panose="02020603050405020304" pitchFamily="18" charset="0"/>
              </a:defRPr>
            </a:lvl5pPr>
            <a:lvl6pPr marL="2514600" indent="-228600" defTabSz="4702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702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702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7021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460" b="1">
                <a:solidFill>
                  <a:schemeClr val="accent1"/>
                </a:solidFill>
                <a:latin typeface="Arial" panose="020B0604020202020204" pitchFamily="34" charset="0"/>
                <a:cs typeface="Arial" panose="020B0604020202020204" pitchFamily="34" charset="0"/>
              </a:rPr>
              <a:t>Method</a:t>
            </a:r>
          </a:p>
        </p:txBody>
      </p:sp>
      <p:sp>
        <p:nvSpPr>
          <p:cNvPr id="60" name="TextBox 59">
            <a:extLst>
              <a:ext uri="{FF2B5EF4-FFF2-40B4-BE49-F238E27FC236}">
                <a16:creationId xmlns:a16="http://schemas.microsoft.com/office/drawing/2014/main" id="{E14574FE-0BAF-A402-5804-48115E86AA5E}"/>
              </a:ext>
            </a:extLst>
          </p:cNvPr>
          <p:cNvSpPr txBox="1"/>
          <p:nvPr/>
        </p:nvSpPr>
        <p:spPr>
          <a:xfrm>
            <a:off x="29260800" y="12549102"/>
            <a:ext cx="13716000" cy="4401205"/>
          </a:xfrm>
          <a:prstGeom prst="rect">
            <a:avLst/>
          </a:prstGeom>
          <a:noFill/>
        </p:spPr>
        <p:txBody>
          <a:bodyPr wrap="square" lIns="0" tIns="0" rIns="0" bIns="0" rtlCol="0">
            <a:spAutoFit/>
          </a:bodyPr>
          <a:lstStyle/>
          <a:p>
            <a:pPr marL="457200" indent="-457200" algn="just">
              <a:buAutoNum type="alphaLcParenBoth"/>
            </a:pPr>
            <a:r>
              <a:rPr lang="en-US" sz="2200">
                <a:latin typeface="Arial" panose="020B0604020202020204" pitchFamily="34" charset="0"/>
                <a:cs typeface="Arial" panose="020B0604020202020204" pitchFamily="34" charset="0"/>
              </a:rPr>
              <a:t>H-plot comparing immune cell fractions in the TME between primary tumors and metastatic lesions. Primary tumors exhibit consistently higher immune infiltration within the tumor region compared with metastatic tumors, suggesting that primary tumors are more immunologically active (“hot”) while metastatic lesions display relatively reduced immune infiltration and a more immune-suppressed (“cold”) microenvironment. A sharp increase in immune fraction is observed at the tumor boundary, indicating immune cell accumulation at the tumor interface. </a:t>
            </a:r>
          </a:p>
          <a:p>
            <a:pPr marL="457200" indent="-457200" algn="just">
              <a:buAutoNum type="alphaLcParenBoth"/>
            </a:pPr>
            <a:r>
              <a:rPr lang="en-US" sz="2200">
                <a:latin typeface="Arial" panose="020B0604020202020204" pitchFamily="34" charset="0"/>
                <a:cs typeface="Arial" panose="020B0604020202020204" pitchFamily="34" charset="0"/>
              </a:rPr>
              <a:t>H-plot stratified by molecular subtypes (S1–S4) reveals subtype-specific spatial immune infiltration patterns. Subtypes S3 and S4 show the highest immune fractions within the TME, consistent with their known biological features, including immune activation, cell-cycle signaling (S3), and stromal- and immune-rich microenvironments (S4). In contrast, S1 and S2 exhibit comparatively lower immune infiltration, suggesting more immune-cold tumor states. Together, these results demonstrate that both tumor progression status (primary versus metastatic) and molecular subtype influence the spatial distribution of immune cells within the tumor microenvironment.</a:t>
            </a:r>
          </a:p>
        </p:txBody>
      </p:sp>
      <p:sp>
        <p:nvSpPr>
          <p:cNvPr id="3142" name="TextBox 3141">
            <a:extLst>
              <a:ext uri="{FF2B5EF4-FFF2-40B4-BE49-F238E27FC236}">
                <a16:creationId xmlns:a16="http://schemas.microsoft.com/office/drawing/2014/main" id="{53BA85F4-8135-B364-3F44-A072E1AB92DB}"/>
              </a:ext>
            </a:extLst>
          </p:cNvPr>
          <p:cNvSpPr txBox="1"/>
          <p:nvPr/>
        </p:nvSpPr>
        <p:spPr>
          <a:xfrm>
            <a:off x="36171819" y="11402146"/>
            <a:ext cx="6858000" cy="1015663"/>
          </a:xfrm>
          <a:prstGeom prst="rect">
            <a:avLst/>
          </a:prstGeom>
          <a:noFill/>
        </p:spPr>
        <p:txBody>
          <a:bodyPr wrap="square" rtlCol="0">
            <a:spAutoFit/>
          </a:bodyPr>
          <a:lstStyle/>
          <a:p>
            <a:r>
              <a:rPr lang="en-US" sz="1450">
                <a:solidFill>
                  <a:schemeClr val="accent2"/>
                </a:solidFill>
              </a:rPr>
              <a:t>S1​: WNT signaling​ / MYC signature</a:t>
            </a:r>
          </a:p>
          <a:p>
            <a:r>
              <a:rPr lang="en-US" sz="1450">
                <a:solidFill>
                  <a:schemeClr val="accent4"/>
                </a:solidFill>
              </a:rPr>
              <a:t>S2: liver metastasis​ / metabolism​ / APC mut</a:t>
            </a:r>
          </a:p>
          <a:p>
            <a:r>
              <a:rPr lang="en-US" sz="1450">
                <a:solidFill>
                  <a:srgbClr val="FF0000"/>
                </a:solidFill>
              </a:rPr>
              <a:t>S3: cell cycle signature​ / mTOR signature ​/ immune activation​/ APC mut​</a:t>
            </a:r>
          </a:p>
          <a:p>
            <a:r>
              <a:rPr lang="en-US" sz="1450">
                <a:solidFill>
                  <a:schemeClr val="tx2"/>
                </a:solidFill>
              </a:rPr>
              <a:t>S4: immune infiltration ​/ stromal infiltration angiogenesis ​ / TGF-b signature​ / BRAF mut</a:t>
            </a:r>
          </a:p>
        </p:txBody>
      </p:sp>
      <p:sp>
        <p:nvSpPr>
          <p:cNvPr id="3156" name="TextBox 3155">
            <a:extLst>
              <a:ext uri="{FF2B5EF4-FFF2-40B4-BE49-F238E27FC236}">
                <a16:creationId xmlns:a16="http://schemas.microsoft.com/office/drawing/2014/main" id="{31FA9C6B-9915-360C-0D28-3F9963538AE7}"/>
              </a:ext>
            </a:extLst>
          </p:cNvPr>
          <p:cNvSpPr txBox="1"/>
          <p:nvPr/>
        </p:nvSpPr>
        <p:spPr>
          <a:xfrm>
            <a:off x="36171818" y="23706824"/>
            <a:ext cx="6804981" cy="984885"/>
          </a:xfrm>
          <a:prstGeom prst="rect">
            <a:avLst/>
          </a:prstGeom>
          <a:noFill/>
          <a:ln>
            <a:noFill/>
          </a:ln>
        </p:spPr>
        <p:txBody>
          <a:bodyPr wrap="square">
            <a:spAutoFit/>
          </a:bodyPr>
          <a:lstStyle/>
          <a:p>
            <a:pPr algn="just"/>
            <a:r>
              <a:rPr lang="en-US" sz="1450" err="1">
                <a:latin typeface="Arial" panose="020B0604020202020204" pitchFamily="34" charset="0"/>
                <a:cs typeface="Arial" panose="020B0604020202020204" pitchFamily="34" charset="0"/>
              </a:rPr>
              <a:t>Post_Atezolizumab</a:t>
            </a:r>
            <a:r>
              <a:rPr lang="en-US" sz="1450">
                <a:latin typeface="Arial" panose="020B0604020202020204" pitchFamily="34" charset="0"/>
                <a:cs typeface="Arial" panose="020B0604020202020204" pitchFamily="34" charset="0"/>
              </a:rPr>
              <a:t> / relapse vs. </a:t>
            </a:r>
            <a:r>
              <a:rPr lang="en-US" sz="1450" err="1">
                <a:latin typeface="Arial" panose="020B0604020202020204" pitchFamily="34" charset="0"/>
                <a:cs typeface="Arial" panose="020B0604020202020204" pitchFamily="34" charset="0"/>
              </a:rPr>
              <a:t>Pre_Atezolizumab</a:t>
            </a:r>
            <a:r>
              <a:rPr lang="en-US" sz="1450">
                <a:latin typeface="Arial" panose="020B0604020202020204" pitchFamily="34" charset="0"/>
                <a:cs typeface="Arial" panose="020B0604020202020204" pitchFamily="34" charset="0"/>
              </a:rPr>
              <a:t> / SD p_val:8.332e-04</a:t>
            </a:r>
          </a:p>
          <a:p>
            <a:pPr algn="just"/>
            <a:r>
              <a:rPr lang="en-US" sz="1450" err="1">
                <a:latin typeface="Arial" panose="020B0604020202020204" pitchFamily="34" charset="0"/>
                <a:cs typeface="Arial" panose="020B0604020202020204" pitchFamily="34" charset="0"/>
              </a:rPr>
              <a:t>Post_Atezolizumab</a:t>
            </a:r>
            <a:r>
              <a:rPr lang="en-US" sz="1450">
                <a:latin typeface="Arial" panose="020B0604020202020204" pitchFamily="34" charset="0"/>
                <a:cs typeface="Arial" panose="020B0604020202020204" pitchFamily="34" charset="0"/>
              </a:rPr>
              <a:t> / SD vs. </a:t>
            </a:r>
            <a:r>
              <a:rPr lang="en-US" sz="1450" err="1">
                <a:latin typeface="Arial" panose="020B0604020202020204" pitchFamily="34" charset="0"/>
                <a:cs typeface="Arial" panose="020B0604020202020204" pitchFamily="34" charset="0"/>
              </a:rPr>
              <a:t>Pre_Atezolizumab</a:t>
            </a:r>
            <a:r>
              <a:rPr lang="en-US" sz="1450">
                <a:latin typeface="Arial" panose="020B0604020202020204" pitchFamily="34" charset="0"/>
                <a:cs typeface="Arial" panose="020B0604020202020204" pitchFamily="34" charset="0"/>
              </a:rPr>
              <a:t> / SD p_val:8.332e-04</a:t>
            </a:r>
          </a:p>
          <a:p>
            <a:pPr algn="just"/>
            <a:r>
              <a:rPr lang="en-US" sz="1450" err="1">
                <a:latin typeface="Arial" panose="020B0604020202020204" pitchFamily="34" charset="0"/>
                <a:cs typeface="Arial" panose="020B0604020202020204" pitchFamily="34" charset="0"/>
              </a:rPr>
              <a:t>Post_Atezolizumab</a:t>
            </a:r>
            <a:r>
              <a:rPr lang="en-US" sz="1450">
                <a:latin typeface="Arial" panose="020B0604020202020204" pitchFamily="34" charset="0"/>
                <a:cs typeface="Arial" panose="020B0604020202020204" pitchFamily="34" charset="0"/>
              </a:rPr>
              <a:t> / relapse vs. </a:t>
            </a:r>
            <a:r>
              <a:rPr lang="en-US" sz="1450" err="1">
                <a:latin typeface="Arial" panose="020B0604020202020204" pitchFamily="34" charset="0"/>
                <a:cs typeface="Arial" panose="020B0604020202020204" pitchFamily="34" charset="0"/>
              </a:rPr>
              <a:t>Pre_Atzeolizumab</a:t>
            </a:r>
            <a:r>
              <a:rPr lang="en-US" sz="1450">
                <a:latin typeface="Arial" panose="020B0604020202020204" pitchFamily="34" charset="0"/>
                <a:cs typeface="Arial" panose="020B0604020202020204" pitchFamily="34" charset="0"/>
              </a:rPr>
              <a:t> / relapse p_val:9.818e-04</a:t>
            </a:r>
          </a:p>
          <a:p>
            <a:pPr algn="just"/>
            <a:r>
              <a:rPr lang="en-US" sz="1450" err="1">
                <a:latin typeface="Arial" panose="020B0604020202020204" pitchFamily="34" charset="0"/>
                <a:cs typeface="Arial" panose="020B0604020202020204" pitchFamily="34" charset="0"/>
              </a:rPr>
              <a:t>Post_Atezolizumab</a:t>
            </a:r>
            <a:r>
              <a:rPr lang="en-US" sz="1450">
                <a:latin typeface="Arial" panose="020B0604020202020204" pitchFamily="34" charset="0"/>
                <a:cs typeface="Arial" panose="020B0604020202020204" pitchFamily="34" charset="0"/>
              </a:rPr>
              <a:t> / SD vs. </a:t>
            </a:r>
            <a:r>
              <a:rPr lang="en-US" sz="1450" err="1">
                <a:latin typeface="Arial" panose="020B0604020202020204" pitchFamily="34" charset="0"/>
                <a:cs typeface="Arial" panose="020B0604020202020204" pitchFamily="34" charset="0"/>
              </a:rPr>
              <a:t>Pre_Atezolizumab</a:t>
            </a:r>
            <a:r>
              <a:rPr lang="en-US" sz="1450">
                <a:latin typeface="Arial" panose="020B0604020202020204" pitchFamily="34" charset="0"/>
                <a:cs typeface="Arial" panose="020B0604020202020204" pitchFamily="34" charset="0"/>
              </a:rPr>
              <a:t> / relapse p_val:1.186e-03</a:t>
            </a:r>
          </a:p>
        </p:txBody>
      </p:sp>
      <p:sp>
        <p:nvSpPr>
          <p:cNvPr id="3157" name="Rectangle 114">
            <a:extLst>
              <a:ext uri="{FF2B5EF4-FFF2-40B4-BE49-F238E27FC236}">
                <a16:creationId xmlns:a16="http://schemas.microsoft.com/office/drawing/2014/main" id="{218F80B3-D6FF-563B-5555-C73F6E4D9550}"/>
              </a:ext>
            </a:extLst>
          </p:cNvPr>
          <p:cNvSpPr>
            <a:spLocks noChangeArrowheads="1"/>
          </p:cNvSpPr>
          <p:nvPr/>
        </p:nvSpPr>
        <p:spPr bwMode="auto">
          <a:xfrm>
            <a:off x="29156777" y="27111707"/>
            <a:ext cx="13716000" cy="619521"/>
          </a:xfrm>
          <a:prstGeom prst="rect">
            <a:avLst/>
          </a:prstGeom>
          <a:solidFill>
            <a:schemeClr val="bg1"/>
          </a:solidFill>
          <a:ln>
            <a:noFill/>
          </a:ln>
        </p:spPr>
        <p:txBody>
          <a:bodyPr lIns="263347" rIns="263347" anchor="ctr"/>
          <a:lstStyle>
            <a:lvl1pPr defTabSz="4702175">
              <a:defRPr sz="2400">
                <a:solidFill>
                  <a:schemeClr val="tx1"/>
                </a:solidFill>
                <a:latin typeface="Times New Roman" panose="02020603050405020304" pitchFamily="18" charset="0"/>
              </a:defRPr>
            </a:lvl1pPr>
            <a:lvl2pPr marL="742950" indent="-285750" defTabSz="4702175">
              <a:defRPr sz="2400">
                <a:solidFill>
                  <a:schemeClr val="tx1"/>
                </a:solidFill>
                <a:latin typeface="Times New Roman" panose="02020603050405020304" pitchFamily="18" charset="0"/>
              </a:defRPr>
            </a:lvl2pPr>
            <a:lvl3pPr marL="1143000" indent="-228600" defTabSz="4702175">
              <a:defRPr sz="2400">
                <a:solidFill>
                  <a:schemeClr val="tx1"/>
                </a:solidFill>
                <a:latin typeface="Times New Roman" panose="02020603050405020304" pitchFamily="18" charset="0"/>
              </a:defRPr>
            </a:lvl3pPr>
            <a:lvl4pPr marL="1600200" indent="-228600" defTabSz="4702175">
              <a:defRPr sz="2400">
                <a:solidFill>
                  <a:schemeClr val="tx1"/>
                </a:solidFill>
                <a:latin typeface="Times New Roman" panose="02020603050405020304" pitchFamily="18" charset="0"/>
              </a:defRPr>
            </a:lvl4pPr>
            <a:lvl5pPr marL="2057400" indent="-228600" defTabSz="4702175">
              <a:defRPr sz="2400">
                <a:solidFill>
                  <a:schemeClr val="tx1"/>
                </a:solidFill>
                <a:latin typeface="Times New Roman" panose="02020603050405020304" pitchFamily="18" charset="0"/>
              </a:defRPr>
            </a:lvl5pPr>
            <a:lvl6pPr marL="2514600" indent="-228600" defTabSz="4702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702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702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702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456" b="1">
                <a:solidFill>
                  <a:schemeClr val="accent1"/>
                </a:solidFill>
                <a:latin typeface="Arial" panose="020B0604020202020204" pitchFamily="34" charset="0"/>
                <a:cs typeface="Arial" panose="020B0604020202020204" pitchFamily="34" charset="0"/>
              </a:rPr>
              <a:t>Source code available at GitHub</a:t>
            </a:r>
          </a:p>
        </p:txBody>
      </p:sp>
      <p:sp>
        <p:nvSpPr>
          <p:cNvPr id="3158" name="Rectangle 114">
            <a:extLst>
              <a:ext uri="{FF2B5EF4-FFF2-40B4-BE49-F238E27FC236}">
                <a16:creationId xmlns:a16="http://schemas.microsoft.com/office/drawing/2014/main" id="{5C9B0B38-A8A4-8D8D-79B9-4515EACF5319}"/>
              </a:ext>
            </a:extLst>
          </p:cNvPr>
          <p:cNvSpPr>
            <a:spLocks noChangeArrowheads="1"/>
          </p:cNvSpPr>
          <p:nvPr/>
        </p:nvSpPr>
        <p:spPr bwMode="auto">
          <a:xfrm>
            <a:off x="29048752" y="17434355"/>
            <a:ext cx="13610818" cy="619521"/>
          </a:xfrm>
          <a:prstGeom prst="rect">
            <a:avLst/>
          </a:prstGeom>
          <a:noFill/>
          <a:ln>
            <a:noFill/>
          </a:ln>
        </p:spPr>
        <p:txBody>
          <a:bodyPr lIns="263347" rIns="263347" anchor="ctr"/>
          <a:lstStyle>
            <a:lvl1pPr defTabSz="4702175">
              <a:defRPr sz="2400">
                <a:solidFill>
                  <a:schemeClr val="tx1"/>
                </a:solidFill>
                <a:latin typeface="Times New Roman" panose="02020603050405020304" pitchFamily="18" charset="0"/>
              </a:defRPr>
            </a:lvl1pPr>
            <a:lvl2pPr marL="742950" indent="-285750" defTabSz="4702175">
              <a:defRPr sz="2400">
                <a:solidFill>
                  <a:schemeClr val="tx1"/>
                </a:solidFill>
                <a:latin typeface="Times New Roman" panose="02020603050405020304" pitchFamily="18" charset="0"/>
              </a:defRPr>
            </a:lvl2pPr>
            <a:lvl3pPr marL="1143000" indent="-228600" defTabSz="4702175">
              <a:defRPr sz="2400">
                <a:solidFill>
                  <a:schemeClr val="tx1"/>
                </a:solidFill>
                <a:latin typeface="Times New Roman" panose="02020603050405020304" pitchFamily="18" charset="0"/>
              </a:defRPr>
            </a:lvl3pPr>
            <a:lvl4pPr marL="1600200" indent="-228600" defTabSz="4702175">
              <a:defRPr sz="2400">
                <a:solidFill>
                  <a:schemeClr val="tx1"/>
                </a:solidFill>
                <a:latin typeface="Times New Roman" panose="02020603050405020304" pitchFamily="18" charset="0"/>
              </a:defRPr>
            </a:lvl4pPr>
            <a:lvl5pPr marL="2057400" indent="-228600" defTabSz="4702175">
              <a:defRPr sz="2400">
                <a:solidFill>
                  <a:schemeClr val="tx1"/>
                </a:solidFill>
                <a:latin typeface="Times New Roman" panose="02020603050405020304" pitchFamily="18" charset="0"/>
              </a:defRPr>
            </a:lvl5pPr>
            <a:lvl6pPr marL="2514600" indent="-228600" defTabSz="4702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702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702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7021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460" b="1">
                <a:solidFill>
                  <a:schemeClr val="accent1"/>
                </a:solidFill>
                <a:latin typeface="Arial" panose="020B0604020202020204" pitchFamily="34" charset="0"/>
                <a:cs typeface="Arial" panose="020B0604020202020204" pitchFamily="34" charset="0"/>
              </a:rPr>
              <a:t>ABACUS Bladder Cancer Study</a:t>
            </a:r>
          </a:p>
        </p:txBody>
      </p:sp>
      <p:sp>
        <p:nvSpPr>
          <p:cNvPr id="3163" name="TextBox 3162">
            <a:extLst>
              <a:ext uri="{FF2B5EF4-FFF2-40B4-BE49-F238E27FC236}">
                <a16:creationId xmlns:a16="http://schemas.microsoft.com/office/drawing/2014/main" id="{DA53334A-6148-D611-DB13-2A75E51409DD}"/>
              </a:ext>
            </a:extLst>
          </p:cNvPr>
          <p:cNvSpPr txBox="1"/>
          <p:nvPr/>
        </p:nvSpPr>
        <p:spPr>
          <a:xfrm>
            <a:off x="14879839" y="10699912"/>
            <a:ext cx="13716000" cy="4493538"/>
          </a:xfrm>
          <a:prstGeom prst="rect">
            <a:avLst/>
          </a:prstGeom>
          <a:noFill/>
        </p:spPr>
        <p:txBody>
          <a:bodyPr wrap="square" lIns="45720" rIns="45720" rtlCol="0">
            <a:spAutoFit/>
          </a:bodyPr>
          <a:lstStyle/>
          <a:p>
            <a:pPr marL="457200" indent="-457200" algn="just">
              <a:buAutoNum type="alphaLcParenBoth"/>
            </a:pPr>
            <a:r>
              <a:rPr lang="en-US" sz="2200">
                <a:latin typeface="Arial" panose="020B0604020202020204" pitchFamily="34" charset="0"/>
                <a:cs typeface="Arial" panose="020B0604020202020204" pitchFamily="34" charset="0"/>
              </a:rPr>
              <a:t>Conceptual illustration of how H-plot summarizes spatial organization around a tumor region. Cells of different types (e.g., tumor cells, lymphocytes, stromal cells, and fibroblasts) are distributed across tissue surrounding the tumor. Each cell is assigned a distance layer relative to the tumor boundary (negative values inside the tumor and positive values outside). Within each layer, the proportion of a cell type of interest (e.g., lymphocytes) is calculated, generating a spatial profile of immune cell distribution relative to the tumor interface. </a:t>
            </a:r>
          </a:p>
          <a:p>
            <a:pPr marL="457200" indent="-457200" algn="just">
              <a:buAutoNum type="alphaLcParenBoth"/>
            </a:pPr>
            <a:r>
              <a:rPr lang="en-US" sz="2200">
                <a:latin typeface="Arial" panose="020B0604020202020204" pitchFamily="34" charset="0"/>
                <a:cs typeface="Arial" panose="020B0604020202020204" pitchFamily="34" charset="0"/>
              </a:rPr>
              <a:t>The resulting H-plot visualizes these distance-dependent proportions. The x-axis represents distance from the tumor border, where zero indicates the tumor boundary, negative values correspond to the tumor interior, and positive values represent the surrounding stromal region. The y-axis shows the proportion of the selected cell type among all cells within each distance layer. Each curve represents a sample group or biological condition. Differences in curve shape and magnitude reveal variations in immune infiltration patterns relative to the tumor boundary; peaks near the boundary indicate enrichment of the cell type at the tumor interface, whereas flatter curves indicate weaker spatial organization.</a:t>
            </a:r>
          </a:p>
        </p:txBody>
      </p:sp>
      <p:sp>
        <p:nvSpPr>
          <p:cNvPr id="3165" name="Rectangle 3164">
            <a:extLst>
              <a:ext uri="{FF2B5EF4-FFF2-40B4-BE49-F238E27FC236}">
                <a16:creationId xmlns:a16="http://schemas.microsoft.com/office/drawing/2014/main" id="{ADD9390C-C926-B53B-471E-DCCB0177FC0B}"/>
              </a:ext>
            </a:extLst>
          </p:cNvPr>
          <p:cNvSpPr/>
          <p:nvPr/>
        </p:nvSpPr>
        <p:spPr bwMode="auto">
          <a:xfrm>
            <a:off x="1972331" y="15280140"/>
            <a:ext cx="10903058" cy="110799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0"/>
              </a:spcBef>
              <a:spcAft>
                <a:spcPct val="0"/>
              </a:spcAft>
              <a:buClrTx/>
              <a:buSzTx/>
              <a:buFontTx/>
              <a:buNone/>
              <a:tabLst/>
            </a:pPr>
            <a:r>
              <a:rPr lang="en-US" sz="2200" b="1">
                <a:solidFill>
                  <a:schemeClr val="tx1"/>
                </a:solidFill>
                <a:latin typeface="Arial" panose="020B0604020202020204" pitchFamily="34" charset="0"/>
                <a:cs typeface="Arial" panose="020B0604020202020204" pitchFamily="34" charset="0"/>
              </a:rPr>
              <a:t>Cell identification and cell-type assignment</a:t>
            </a:r>
          </a:p>
          <a:p>
            <a:pPr marL="0" marR="0" indent="0" defTabSz="914400" rtl="0" eaLnBrk="0" fontAlgn="base" latinLnBrk="0" hangingPunct="0">
              <a:lnSpc>
                <a:spcPct val="100000"/>
              </a:lnSpc>
              <a:spcBef>
                <a:spcPct val="0"/>
              </a:spcBef>
              <a:spcAft>
                <a:spcPct val="0"/>
              </a:spcAft>
              <a:buClrTx/>
              <a:buSzTx/>
              <a:buFontTx/>
              <a:buNone/>
              <a:tabLst/>
            </a:pPr>
            <a:r>
              <a:rPr lang="en-US" sz="2200">
                <a:solidFill>
                  <a:schemeClr val="tx1"/>
                </a:solidFill>
                <a:latin typeface="Arial" panose="020B0604020202020204" pitchFamily="34" charset="0"/>
                <a:cs typeface="Arial" panose="020B0604020202020204" pitchFamily="34" charset="0"/>
              </a:rPr>
              <a:t>Cells are detected from spatial imaging or spatial omics data and annotated with cell-type labels using marker-based classification or computational prediction methods.</a:t>
            </a:r>
          </a:p>
        </p:txBody>
      </p:sp>
      <p:sp>
        <p:nvSpPr>
          <p:cNvPr id="3166" name="Rectangle 3165">
            <a:extLst>
              <a:ext uri="{FF2B5EF4-FFF2-40B4-BE49-F238E27FC236}">
                <a16:creationId xmlns:a16="http://schemas.microsoft.com/office/drawing/2014/main" id="{1DB242F7-9E06-B1D1-9047-88E5759EA2BC}"/>
              </a:ext>
            </a:extLst>
          </p:cNvPr>
          <p:cNvSpPr/>
          <p:nvPr/>
        </p:nvSpPr>
        <p:spPr bwMode="auto">
          <a:xfrm>
            <a:off x="1972331" y="17249545"/>
            <a:ext cx="10903058" cy="110799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0"/>
              </a:spcBef>
              <a:spcAft>
                <a:spcPct val="0"/>
              </a:spcAft>
              <a:buClrTx/>
              <a:buSzTx/>
              <a:buFontTx/>
              <a:buNone/>
              <a:tabLst/>
            </a:pPr>
            <a:r>
              <a:rPr lang="en-US" sz="2200" b="1">
                <a:solidFill>
                  <a:schemeClr val="tx1"/>
                </a:solidFill>
                <a:latin typeface="Arial" panose="020B0604020202020204" pitchFamily="34" charset="0"/>
                <a:cs typeface="Arial" panose="020B0604020202020204" pitchFamily="34" charset="0"/>
              </a:rPr>
              <a:t>Spatial graph construction by Delaunay triangulation</a:t>
            </a:r>
          </a:p>
          <a:p>
            <a:pPr marL="0" marR="0" indent="0" defTabSz="914400" rtl="0" eaLnBrk="0" fontAlgn="base" latinLnBrk="0" hangingPunct="0">
              <a:lnSpc>
                <a:spcPct val="100000"/>
              </a:lnSpc>
              <a:spcBef>
                <a:spcPct val="0"/>
              </a:spcBef>
              <a:spcAft>
                <a:spcPct val="0"/>
              </a:spcAft>
              <a:buClrTx/>
              <a:buSzTx/>
              <a:buFontTx/>
              <a:buNone/>
              <a:tabLst/>
            </a:pPr>
            <a:r>
              <a:rPr lang="en-US" sz="2200">
                <a:solidFill>
                  <a:schemeClr val="tx1"/>
                </a:solidFill>
                <a:latin typeface="Arial" panose="020B0604020202020204" pitchFamily="34" charset="0"/>
                <a:cs typeface="Arial" panose="020B0604020202020204" pitchFamily="34" charset="0"/>
              </a:rPr>
              <a:t>A spatial adjacency graph is constructed by applying Delaunay triangulation to cell centroid coordinates, defining local neighborhood relationships among cells.</a:t>
            </a:r>
          </a:p>
        </p:txBody>
      </p:sp>
      <p:sp>
        <p:nvSpPr>
          <p:cNvPr id="3167" name="Rectangle 3166">
            <a:extLst>
              <a:ext uri="{FF2B5EF4-FFF2-40B4-BE49-F238E27FC236}">
                <a16:creationId xmlns:a16="http://schemas.microsoft.com/office/drawing/2014/main" id="{57A49F5A-A4D2-D607-CAE0-CC259FDA1B4A}"/>
              </a:ext>
            </a:extLst>
          </p:cNvPr>
          <p:cNvSpPr/>
          <p:nvPr/>
        </p:nvSpPr>
        <p:spPr bwMode="auto">
          <a:xfrm>
            <a:off x="1972331" y="21188355"/>
            <a:ext cx="10903058" cy="110799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0"/>
              </a:spcBef>
              <a:spcAft>
                <a:spcPct val="0"/>
              </a:spcAft>
              <a:buClrTx/>
              <a:buSzTx/>
              <a:buFontTx/>
              <a:buNone/>
              <a:tabLst/>
            </a:pPr>
            <a:r>
              <a:rPr lang="en-US" sz="2200" b="1">
                <a:solidFill>
                  <a:schemeClr val="tx1"/>
                </a:solidFill>
                <a:latin typeface="Arial" panose="020B0604020202020204" pitchFamily="34" charset="0"/>
                <a:cs typeface="Arial" panose="020B0604020202020204" pitchFamily="34" charset="0"/>
              </a:rPr>
              <a:t>Tumor region and boundary definition</a:t>
            </a:r>
          </a:p>
          <a:p>
            <a:pPr marL="0" marR="0" indent="0" defTabSz="914400" rtl="0" eaLnBrk="0" fontAlgn="base" latinLnBrk="0" hangingPunct="0">
              <a:lnSpc>
                <a:spcPct val="100000"/>
              </a:lnSpc>
              <a:spcBef>
                <a:spcPct val="0"/>
              </a:spcBef>
              <a:spcAft>
                <a:spcPct val="0"/>
              </a:spcAft>
              <a:buClrTx/>
              <a:buSzTx/>
              <a:buFontTx/>
              <a:buNone/>
              <a:tabLst/>
            </a:pPr>
            <a:r>
              <a:rPr lang="en-US" sz="2200">
                <a:solidFill>
                  <a:schemeClr val="tx1"/>
                </a:solidFill>
                <a:latin typeface="Arial" panose="020B0604020202020204" pitchFamily="34" charset="0"/>
                <a:cs typeface="Arial" panose="020B0604020202020204" pitchFamily="34" charset="0"/>
              </a:rPr>
              <a:t>Tumor regions are identified using segmentation or annotation masks, and the tumor boundary is defined as the interface between tumor and surrounding non-tumor tissue.</a:t>
            </a:r>
          </a:p>
        </p:txBody>
      </p:sp>
      <p:sp>
        <p:nvSpPr>
          <p:cNvPr id="3169" name="Rectangle 3168">
            <a:extLst>
              <a:ext uri="{FF2B5EF4-FFF2-40B4-BE49-F238E27FC236}">
                <a16:creationId xmlns:a16="http://schemas.microsoft.com/office/drawing/2014/main" id="{6A99C840-847F-7A69-6BE5-48704D16CC3C}"/>
              </a:ext>
            </a:extLst>
          </p:cNvPr>
          <p:cNvSpPr/>
          <p:nvPr/>
        </p:nvSpPr>
        <p:spPr bwMode="auto">
          <a:xfrm>
            <a:off x="1972331" y="23157760"/>
            <a:ext cx="10903058" cy="110799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0"/>
              </a:spcBef>
              <a:spcAft>
                <a:spcPct val="0"/>
              </a:spcAft>
              <a:buClrTx/>
              <a:buSzTx/>
              <a:buFontTx/>
              <a:buNone/>
              <a:tabLst/>
            </a:pPr>
            <a:r>
              <a:rPr lang="en-US" sz="2200" b="1">
                <a:solidFill>
                  <a:schemeClr val="tx1"/>
                </a:solidFill>
                <a:latin typeface="Arial" panose="020B0604020202020204" pitchFamily="34" charset="0"/>
                <a:cs typeface="Arial" panose="020B0604020202020204" pitchFamily="34" charset="0"/>
              </a:rPr>
              <a:t>Boundary-aware spatial layer assignment</a:t>
            </a:r>
          </a:p>
          <a:p>
            <a:pPr marL="0" marR="0" indent="0" defTabSz="914400" rtl="0" eaLnBrk="0" fontAlgn="base" latinLnBrk="0" hangingPunct="0">
              <a:lnSpc>
                <a:spcPct val="100000"/>
              </a:lnSpc>
              <a:spcBef>
                <a:spcPct val="0"/>
              </a:spcBef>
              <a:spcAft>
                <a:spcPct val="0"/>
              </a:spcAft>
              <a:buClrTx/>
              <a:buSzTx/>
              <a:buFontTx/>
              <a:buNone/>
              <a:tabLst/>
            </a:pPr>
            <a:r>
              <a:rPr lang="en-US" sz="2200">
                <a:solidFill>
                  <a:schemeClr val="tx1"/>
                </a:solidFill>
                <a:latin typeface="Arial" panose="020B0604020202020204" pitchFamily="34" charset="0"/>
                <a:cs typeface="Arial" panose="020B0604020202020204" pitchFamily="34" charset="0"/>
              </a:rPr>
              <a:t>The spatial position of each cell is quantified by calculating its distance to the nearest tumor boundary and assigning it to a corresponding distance layer.</a:t>
            </a:r>
          </a:p>
        </p:txBody>
      </p:sp>
      <p:sp>
        <p:nvSpPr>
          <p:cNvPr id="3170" name="Rectangle 3169">
            <a:extLst>
              <a:ext uri="{FF2B5EF4-FFF2-40B4-BE49-F238E27FC236}">
                <a16:creationId xmlns:a16="http://schemas.microsoft.com/office/drawing/2014/main" id="{E0BC5805-27F3-DF05-2DC4-9F30027B5045}"/>
              </a:ext>
            </a:extLst>
          </p:cNvPr>
          <p:cNvSpPr/>
          <p:nvPr/>
        </p:nvSpPr>
        <p:spPr bwMode="auto">
          <a:xfrm>
            <a:off x="1972331" y="19218950"/>
            <a:ext cx="10903058" cy="110799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0"/>
              </a:spcBef>
              <a:spcAft>
                <a:spcPct val="0"/>
              </a:spcAft>
              <a:buClrTx/>
              <a:buSzTx/>
              <a:buFontTx/>
              <a:buNone/>
              <a:tabLst/>
            </a:pPr>
            <a:r>
              <a:rPr lang="en-US" sz="2200" b="1">
                <a:solidFill>
                  <a:schemeClr val="tx1"/>
                </a:solidFill>
                <a:latin typeface="Arial" panose="020B0604020202020204" pitchFamily="34" charset="0"/>
                <a:cs typeface="Arial" panose="020B0604020202020204" pitchFamily="34" charset="0"/>
              </a:rPr>
              <a:t>Neighborhood-based cell function enrichment analysis</a:t>
            </a:r>
          </a:p>
          <a:p>
            <a:pPr marL="0" marR="0" indent="0" defTabSz="914400" rtl="0" eaLnBrk="0" fontAlgn="base" latinLnBrk="0" hangingPunct="0">
              <a:lnSpc>
                <a:spcPct val="100000"/>
              </a:lnSpc>
              <a:spcBef>
                <a:spcPct val="0"/>
              </a:spcBef>
              <a:spcAft>
                <a:spcPct val="0"/>
              </a:spcAft>
              <a:buClrTx/>
              <a:buSzTx/>
              <a:buFontTx/>
              <a:buNone/>
              <a:tabLst/>
            </a:pPr>
            <a:r>
              <a:rPr lang="en-US" sz="2200">
                <a:solidFill>
                  <a:schemeClr val="tx1"/>
                </a:solidFill>
                <a:latin typeface="Arial" panose="020B0604020202020204" pitchFamily="34" charset="0"/>
                <a:cs typeface="Arial" panose="020B0604020202020204" pitchFamily="34" charset="0"/>
              </a:rPr>
              <a:t>For each cell, the composition of its spatial neighbors is analyzed to quantify enrichment of specific functional cell types within the local microenvironment.</a:t>
            </a:r>
          </a:p>
        </p:txBody>
      </p:sp>
      <p:sp>
        <p:nvSpPr>
          <p:cNvPr id="3173" name="Rectangle 3172">
            <a:extLst>
              <a:ext uri="{FF2B5EF4-FFF2-40B4-BE49-F238E27FC236}">
                <a16:creationId xmlns:a16="http://schemas.microsoft.com/office/drawing/2014/main" id="{D042D019-0133-6C9F-45CE-78A8D64A2C3D}"/>
              </a:ext>
            </a:extLst>
          </p:cNvPr>
          <p:cNvSpPr/>
          <p:nvPr/>
        </p:nvSpPr>
        <p:spPr bwMode="auto">
          <a:xfrm>
            <a:off x="1972331" y="25127165"/>
            <a:ext cx="10903058" cy="110799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0"/>
              </a:spcBef>
              <a:spcAft>
                <a:spcPct val="0"/>
              </a:spcAft>
              <a:buClrTx/>
              <a:buSzTx/>
              <a:buFontTx/>
              <a:buNone/>
              <a:tabLst/>
            </a:pPr>
            <a:r>
              <a:rPr lang="en-US" sz="2200" b="1">
                <a:solidFill>
                  <a:schemeClr val="tx1"/>
                </a:solidFill>
                <a:latin typeface="Arial" panose="020B0604020202020204" pitchFamily="34" charset="0"/>
                <a:cs typeface="Arial" panose="020B0604020202020204" pitchFamily="34" charset="0"/>
              </a:rPr>
              <a:t>Cell-type proportion aggregation across spatial layers</a:t>
            </a:r>
          </a:p>
          <a:p>
            <a:pPr marL="0" marR="0" indent="0" defTabSz="914400" rtl="0" eaLnBrk="0" fontAlgn="base" latinLnBrk="0" hangingPunct="0">
              <a:lnSpc>
                <a:spcPct val="100000"/>
              </a:lnSpc>
              <a:spcBef>
                <a:spcPct val="0"/>
              </a:spcBef>
              <a:spcAft>
                <a:spcPct val="0"/>
              </a:spcAft>
              <a:buClrTx/>
              <a:buSzTx/>
              <a:buFontTx/>
              <a:buNone/>
              <a:tabLst/>
            </a:pPr>
            <a:r>
              <a:rPr lang="en-US" sz="2200">
                <a:solidFill>
                  <a:schemeClr val="tx1"/>
                </a:solidFill>
                <a:latin typeface="Arial" panose="020B0604020202020204" pitchFamily="34" charset="0"/>
                <a:cs typeface="Arial" panose="020B0604020202020204" pitchFamily="34" charset="0"/>
              </a:rPr>
              <a:t>For each distance layer, the proportion of cells belonging to a target cell type is computed by aggregating cell-type counts across all cells assigned to that layer.</a:t>
            </a:r>
          </a:p>
        </p:txBody>
      </p:sp>
      <mc:AlternateContent xmlns:mc="http://schemas.openxmlformats.org/markup-compatibility/2006" xmlns:a14="http://schemas.microsoft.com/office/drawing/2010/main">
        <mc:Choice Requires="a14">
          <p:sp>
            <p:nvSpPr>
              <p:cNvPr id="3187" name="Rectangle 3186">
                <a:extLst>
                  <a:ext uri="{FF2B5EF4-FFF2-40B4-BE49-F238E27FC236}">
                    <a16:creationId xmlns:a16="http://schemas.microsoft.com/office/drawing/2014/main" id="{D1131360-1F55-6380-82D5-9EB04FB10A22}"/>
                  </a:ext>
                </a:extLst>
              </p:cNvPr>
              <p:cNvSpPr/>
              <p:nvPr/>
            </p:nvSpPr>
            <p:spPr bwMode="auto">
              <a:xfrm>
                <a:off x="1972331" y="27096572"/>
                <a:ext cx="10903058" cy="367863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0"/>
                  </a:spcBef>
                  <a:spcAft>
                    <a:spcPct val="0"/>
                  </a:spcAft>
                  <a:buClrTx/>
                  <a:buSzTx/>
                  <a:buFontTx/>
                  <a:buNone/>
                  <a:tabLst/>
                </a:pPr>
                <a:r>
                  <a:rPr lang="en-US" sz="2200" b="1">
                    <a:solidFill>
                      <a:schemeClr val="tx1"/>
                    </a:solidFill>
                    <a:latin typeface="Arial" panose="020B0604020202020204" pitchFamily="34" charset="0"/>
                    <a:cs typeface="Arial" panose="020B0604020202020204" pitchFamily="34" charset="0"/>
                  </a:rPr>
                  <a:t>Generation of the H-plot heterogeneity curve</a:t>
                </a:r>
              </a:p>
              <a:p>
                <a:pPr marL="0" marR="0" indent="0" defTabSz="914400" rtl="0" eaLnBrk="0" fontAlgn="base" latinLnBrk="0" hangingPunct="0">
                  <a:lnSpc>
                    <a:spcPct val="100000"/>
                  </a:lnSpc>
                  <a:spcBef>
                    <a:spcPct val="0"/>
                  </a:spcBef>
                  <a:spcAft>
                    <a:spcPct val="0"/>
                  </a:spcAft>
                  <a:buClrTx/>
                  <a:buSzTx/>
                  <a:buFontTx/>
                  <a:buNone/>
                  <a:tabLst/>
                </a:pPr>
                <a:r>
                  <a:rPr lang="en-US" sz="2200">
                    <a:solidFill>
                      <a:schemeClr val="tx1"/>
                    </a:solidFill>
                    <a:latin typeface="Arial" panose="020B0604020202020204" pitchFamily="34" charset="0"/>
                    <a:cs typeface="Arial" panose="020B0604020202020204" pitchFamily="34" charset="0"/>
                  </a:rPr>
                  <a:t>The spatial heterogeneity profile is generated by plotting cell-type proportions as a function of distance from the tumor boundary:</a:t>
                </a:r>
              </a:p>
              <a:p>
                <a:pPr marL="0" marR="0" indent="0" algn="ctr" defTabSz="914400" rtl="0" eaLnBrk="0" fontAlgn="base" latinLnBrk="0" hangingPunct="0">
                  <a:lnSpc>
                    <a:spcPct val="100000"/>
                  </a:lnSpc>
                  <a:spcBef>
                    <a:spcPct val="0"/>
                  </a:spcBef>
                  <a:spcAft>
                    <a:spcPct val="0"/>
                  </a:spcAft>
                  <a:buClrTx/>
                  <a:buSzTx/>
                  <a:buFontTx/>
                  <a:buNone/>
                  <a:tabLst/>
                </a:pPr>
                <a14:m>
                  <m:oMath xmlns:m="http://schemas.openxmlformats.org/officeDocument/2006/math">
                    <m:r>
                      <a:rPr lang="en-US" sz="2200" b="0" i="1" smtClean="0">
                        <a:solidFill>
                          <a:schemeClr val="tx1"/>
                        </a:solidFill>
                        <a:latin typeface="Cambria Math" panose="02040503050406030204" pitchFamily="18" charset="0"/>
                        <a:cs typeface="Arial" panose="020B0604020202020204" pitchFamily="34" charset="0"/>
                      </a:rPr>
                      <m:t>𝑃</m:t>
                    </m:r>
                    <m:d>
                      <m:dPr>
                        <m:ctrlPr>
                          <a:rPr lang="en-US" sz="2200" b="0" i="1" smtClean="0">
                            <a:solidFill>
                              <a:schemeClr val="tx1"/>
                            </a:solidFill>
                            <a:latin typeface="Cambria Math" panose="02040503050406030204" pitchFamily="18" charset="0"/>
                            <a:cs typeface="Arial" panose="020B0604020202020204" pitchFamily="34" charset="0"/>
                          </a:rPr>
                        </m:ctrlPr>
                      </m:dPr>
                      <m:e>
                        <m:r>
                          <a:rPr lang="en-US" sz="2200" b="0" i="1" smtClean="0">
                            <a:solidFill>
                              <a:schemeClr val="tx1"/>
                            </a:solidFill>
                            <a:latin typeface="Cambria Math" panose="02040503050406030204" pitchFamily="18" charset="0"/>
                            <a:cs typeface="Arial" panose="020B0604020202020204" pitchFamily="34" charset="0"/>
                          </a:rPr>
                          <m:t>𝑑</m:t>
                        </m:r>
                      </m:e>
                    </m:d>
                    <m:r>
                      <a:rPr lang="en-US" sz="2200" i="1" smtClean="0">
                        <a:solidFill>
                          <a:schemeClr val="tx1"/>
                        </a:solidFill>
                        <a:latin typeface="Cambria Math" panose="02040503050406030204" pitchFamily="18" charset="0"/>
                        <a:cs typeface="Arial" panose="020B0604020202020204" pitchFamily="34" charset="0"/>
                      </a:rPr>
                      <m:t>=</m:t>
                    </m:r>
                    <m:f>
                      <m:fPr>
                        <m:ctrlPr>
                          <a:rPr lang="en-US" sz="2200" i="1" smtClean="0">
                            <a:solidFill>
                              <a:schemeClr val="tx1"/>
                            </a:solidFill>
                            <a:latin typeface="Cambria Math" panose="02040503050406030204" pitchFamily="18" charset="0"/>
                            <a:cs typeface="Arial" panose="020B0604020202020204" pitchFamily="34" charset="0"/>
                          </a:rPr>
                        </m:ctrlPr>
                      </m:fPr>
                      <m:num>
                        <m:sSub>
                          <m:sSubPr>
                            <m:ctrlPr>
                              <a:rPr lang="en-US" sz="2200" b="0" i="1" smtClean="0">
                                <a:solidFill>
                                  <a:schemeClr val="tx1"/>
                                </a:solidFill>
                                <a:latin typeface="Cambria Math" panose="02040503050406030204" pitchFamily="18" charset="0"/>
                                <a:cs typeface="Arial" panose="020B0604020202020204" pitchFamily="34" charset="0"/>
                              </a:rPr>
                            </m:ctrlPr>
                          </m:sSubPr>
                          <m:e>
                            <m:r>
                              <a:rPr lang="en-US" sz="2200" b="0" i="1" smtClean="0">
                                <a:solidFill>
                                  <a:schemeClr val="tx1"/>
                                </a:solidFill>
                                <a:latin typeface="Cambria Math" panose="02040503050406030204" pitchFamily="18" charset="0"/>
                                <a:cs typeface="Arial" panose="020B0604020202020204" pitchFamily="34" charset="0"/>
                              </a:rPr>
                              <m:t>𝑁</m:t>
                            </m:r>
                          </m:e>
                          <m:sub>
                            <m:r>
                              <a:rPr lang="en-US" sz="2200" b="0" i="1" smtClean="0">
                                <a:solidFill>
                                  <a:schemeClr val="tx1"/>
                                </a:solidFill>
                                <a:latin typeface="Cambria Math" panose="02040503050406030204" pitchFamily="18" charset="0"/>
                                <a:cs typeface="Arial" panose="020B0604020202020204" pitchFamily="34" charset="0"/>
                              </a:rPr>
                              <m:t>𝑐</m:t>
                            </m:r>
                          </m:sub>
                        </m:sSub>
                        <m:d>
                          <m:dPr>
                            <m:ctrlPr>
                              <a:rPr lang="en-US" sz="2200" b="0" i="1" smtClean="0">
                                <a:solidFill>
                                  <a:schemeClr val="tx1"/>
                                </a:solidFill>
                                <a:latin typeface="Cambria Math" panose="02040503050406030204" pitchFamily="18" charset="0"/>
                                <a:cs typeface="Arial" panose="020B0604020202020204" pitchFamily="34" charset="0"/>
                              </a:rPr>
                            </m:ctrlPr>
                          </m:dPr>
                          <m:e>
                            <m:r>
                              <a:rPr lang="en-US" sz="2200" b="0" i="1" smtClean="0">
                                <a:solidFill>
                                  <a:schemeClr val="tx1"/>
                                </a:solidFill>
                                <a:latin typeface="Cambria Math" panose="02040503050406030204" pitchFamily="18" charset="0"/>
                                <a:cs typeface="Arial" panose="020B0604020202020204" pitchFamily="34" charset="0"/>
                              </a:rPr>
                              <m:t>𝑑</m:t>
                            </m:r>
                          </m:e>
                        </m:d>
                      </m:num>
                      <m:den>
                        <m:r>
                          <a:rPr lang="en-US" sz="2200" b="0" i="1" smtClean="0">
                            <a:solidFill>
                              <a:schemeClr val="tx1"/>
                            </a:solidFill>
                            <a:latin typeface="Cambria Math" panose="02040503050406030204" pitchFamily="18" charset="0"/>
                            <a:cs typeface="Arial" panose="020B0604020202020204" pitchFamily="34" charset="0"/>
                          </a:rPr>
                          <m:t>𝑁</m:t>
                        </m:r>
                        <m:d>
                          <m:dPr>
                            <m:ctrlPr>
                              <a:rPr lang="en-US" sz="2200" b="0" i="1" smtClean="0">
                                <a:solidFill>
                                  <a:schemeClr val="tx1"/>
                                </a:solidFill>
                                <a:latin typeface="Cambria Math" panose="02040503050406030204" pitchFamily="18" charset="0"/>
                                <a:cs typeface="Arial" panose="020B0604020202020204" pitchFamily="34" charset="0"/>
                              </a:rPr>
                            </m:ctrlPr>
                          </m:dPr>
                          <m:e>
                            <m:r>
                              <a:rPr lang="en-US" sz="2200" b="0" i="1" smtClean="0">
                                <a:solidFill>
                                  <a:schemeClr val="tx1"/>
                                </a:solidFill>
                                <a:latin typeface="Cambria Math" panose="02040503050406030204" pitchFamily="18" charset="0"/>
                                <a:cs typeface="Arial" panose="020B0604020202020204" pitchFamily="34" charset="0"/>
                              </a:rPr>
                              <m:t>𝑑</m:t>
                            </m:r>
                          </m:e>
                        </m:d>
                      </m:den>
                    </m:f>
                    <m:r>
                      <a:rPr lang="en-US" sz="2200" b="0" i="1" smtClean="0">
                        <a:solidFill>
                          <a:schemeClr val="tx1"/>
                        </a:solidFill>
                        <a:latin typeface="Cambria Math" panose="02040503050406030204" pitchFamily="18" charset="0"/>
                        <a:cs typeface="Arial" panose="020B0604020202020204" pitchFamily="34" charset="0"/>
                      </a:rPr>
                      <m:t>,</m:t>
                    </m:r>
                  </m:oMath>
                </a14:m>
                <a:r>
                  <a:rPr lang="en-US" sz="2200">
                    <a:solidFill>
                      <a:schemeClr val="tx1"/>
                    </a:solidFill>
                    <a:latin typeface="Arial" panose="020B0604020202020204" pitchFamily="34" charset="0"/>
                    <a:cs typeface="Arial" panose="020B0604020202020204" pitchFamily="34" charset="0"/>
                  </a:rPr>
                  <a:t> </a:t>
                </a:r>
              </a:p>
              <a:p>
                <a:pPr marL="0" marR="0" indent="0" defTabSz="914400" rtl="0" eaLnBrk="0" fontAlgn="base" latinLnBrk="0" hangingPunct="0">
                  <a:lnSpc>
                    <a:spcPct val="100000"/>
                  </a:lnSpc>
                  <a:spcBef>
                    <a:spcPct val="0"/>
                  </a:spcBef>
                  <a:spcAft>
                    <a:spcPct val="0"/>
                  </a:spcAft>
                  <a:buClrTx/>
                  <a:buSzTx/>
                  <a:buFontTx/>
                  <a:buNone/>
                  <a:tabLst/>
                </a:pPr>
                <a:r>
                  <a:rPr lang="en-US" sz="2200">
                    <a:solidFill>
                      <a:schemeClr val="tx1"/>
                    </a:solidFill>
                    <a:latin typeface="Arial" panose="020B0604020202020204" pitchFamily="34" charset="0"/>
                    <a:cs typeface="Arial" panose="020B0604020202020204" pitchFamily="34" charset="0"/>
                  </a:rPr>
                  <a:t>where</a:t>
                </a:r>
              </a:p>
              <a:p>
                <a14:m>
                  <m:oMath xmlns:m="http://schemas.openxmlformats.org/officeDocument/2006/math">
                    <m:r>
                      <a:rPr lang="en-US" sz="2200" i="1" dirty="0">
                        <a:solidFill>
                          <a:schemeClr val="tx1"/>
                        </a:solidFill>
                        <a:latin typeface="Cambria Math" panose="02040503050406030204" pitchFamily="18" charset="0"/>
                        <a:cs typeface="Arial" panose="020B0604020202020204" pitchFamily="34" charset="0"/>
                      </a:rPr>
                      <m:t>𝑑</m:t>
                    </m:r>
                  </m:oMath>
                </a14:m>
                <a:r>
                  <a:rPr lang="en-US" sz="2200">
                    <a:solidFill>
                      <a:schemeClr val="tx1"/>
                    </a:solidFill>
                    <a:latin typeface="Arial" panose="020B0604020202020204" pitchFamily="34" charset="0"/>
                    <a:cs typeface="Arial" panose="020B0604020202020204" pitchFamily="34" charset="0"/>
                  </a:rPr>
                  <a:t>:        distance layer from tumor</a:t>
                </a:r>
                <a:r>
                  <a:rPr lang="zh-TW" altLang="en-US" sz="2200">
                    <a:solidFill>
                      <a:schemeClr val="tx1"/>
                    </a:solidFill>
                    <a:latin typeface="Arial" panose="020B0604020202020204" pitchFamily="34" charset="0"/>
                    <a:cs typeface="Arial" panose="020B0604020202020204" pitchFamily="34" charset="0"/>
                  </a:rPr>
                  <a:t> </a:t>
                </a:r>
                <a:r>
                  <a:rPr lang="en-US" altLang="zh-TW" sz="2200">
                    <a:solidFill>
                      <a:schemeClr val="tx1"/>
                    </a:solidFill>
                    <a:latin typeface="Arial" panose="020B0604020202020204" pitchFamily="34" charset="0"/>
                    <a:cs typeface="Arial" panose="020B0604020202020204" pitchFamily="34" charset="0"/>
                  </a:rPr>
                  <a:t>boundary,</a:t>
                </a:r>
              </a:p>
              <a:p>
                <a14:m>
                  <m:oMath xmlns:m="http://schemas.openxmlformats.org/officeDocument/2006/math">
                    <m:sSub>
                      <m:sSubPr>
                        <m:ctrlPr>
                          <a:rPr lang="en-US" sz="2200" i="1">
                            <a:solidFill>
                              <a:schemeClr val="tx1"/>
                            </a:solidFill>
                            <a:latin typeface="Cambria Math" panose="02040503050406030204" pitchFamily="18" charset="0"/>
                            <a:cs typeface="Arial" panose="020B0604020202020204" pitchFamily="34" charset="0"/>
                          </a:rPr>
                        </m:ctrlPr>
                      </m:sSubPr>
                      <m:e>
                        <m:r>
                          <a:rPr lang="en-US" sz="2200" i="1">
                            <a:solidFill>
                              <a:schemeClr val="tx1"/>
                            </a:solidFill>
                            <a:latin typeface="Cambria Math" panose="02040503050406030204" pitchFamily="18" charset="0"/>
                            <a:cs typeface="Arial" panose="020B0604020202020204" pitchFamily="34" charset="0"/>
                          </a:rPr>
                          <m:t>𝑁</m:t>
                        </m:r>
                      </m:e>
                      <m:sub>
                        <m:r>
                          <a:rPr lang="en-US" sz="2200" i="1">
                            <a:solidFill>
                              <a:schemeClr val="tx1"/>
                            </a:solidFill>
                            <a:latin typeface="Cambria Math" panose="02040503050406030204" pitchFamily="18" charset="0"/>
                            <a:cs typeface="Arial" panose="020B0604020202020204" pitchFamily="34" charset="0"/>
                          </a:rPr>
                          <m:t>𝑐</m:t>
                        </m:r>
                      </m:sub>
                    </m:sSub>
                    <m:d>
                      <m:dPr>
                        <m:ctrlPr>
                          <a:rPr lang="en-US" sz="2200" i="1" dirty="0">
                            <a:solidFill>
                              <a:schemeClr val="tx1"/>
                            </a:solidFill>
                            <a:latin typeface="Cambria Math" panose="02040503050406030204" pitchFamily="18" charset="0"/>
                            <a:cs typeface="Arial" panose="020B0604020202020204" pitchFamily="34" charset="0"/>
                          </a:rPr>
                        </m:ctrlPr>
                      </m:dPr>
                      <m:e>
                        <m:r>
                          <a:rPr lang="en-US" sz="2200" i="1" dirty="0">
                            <a:solidFill>
                              <a:schemeClr val="tx1"/>
                            </a:solidFill>
                            <a:latin typeface="Cambria Math" panose="02040503050406030204" pitchFamily="18" charset="0"/>
                            <a:cs typeface="Arial" panose="020B0604020202020204" pitchFamily="34" charset="0"/>
                          </a:rPr>
                          <m:t>𝑑</m:t>
                        </m:r>
                      </m:e>
                    </m:d>
                  </m:oMath>
                </a14:m>
                <a:r>
                  <a:rPr lang="en-US" sz="2200">
                    <a:solidFill>
                      <a:schemeClr val="tx1"/>
                    </a:solidFill>
                    <a:latin typeface="Arial" panose="020B0604020202020204" pitchFamily="34" charset="0"/>
                    <a:cs typeface="Arial" panose="020B0604020202020204" pitchFamily="34" charset="0"/>
                  </a:rPr>
                  <a:t>: number of cells of the target type c in layer </a:t>
                </a:r>
                <a14:m>
                  <m:oMath xmlns:m="http://schemas.openxmlformats.org/officeDocument/2006/math">
                    <m:r>
                      <a:rPr lang="en-US" sz="2200" i="1" dirty="0">
                        <a:solidFill>
                          <a:schemeClr val="tx1"/>
                        </a:solidFill>
                        <a:latin typeface="Cambria Math" panose="02040503050406030204" pitchFamily="18" charset="0"/>
                        <a:cs typeface="Arial" panose="020B0604020202020204" pitchFamily="34" charset="0"/>
                      </a:rPr>
                      <m:t>𝑑</m:t>
                    </m:r>
                  </m:oMath>
                </a14:m>
                <a:r>
                  <a:rPr lang="en-US" altLang="zh-TW" sz="2200">
                    <a:solidFill>
                      <a:schemeClr val="tx1"/>
                    </a:solidFill>
                    <a:latin typeface="Arial" panose="020B0604020202020204" pitchFamily="34" charset="0"/>
                    <a:cs typeface="Arial" panose="020B0604020202020204" pitchFamily="34" charset="0"/>
                  </a:rPr>
                  <a:t>, and</a:t>
                </a:r>
              </a:p>
              <a:p>
                <a14:m>
                  <m:oMath xmlns:m="http://schemas.openxmlformats.org/officeDocument/2006/math">
                    <m:r>
                      <a:rPr lang="en-US" sz="2200" b="0" i="1" dirty="0" smtClean="0">
                        <a:solidFill>
                          <a:schemeClr val="tx1"/>
                        </a:solidFill>
                        <a:latin typeface="Cambria Math" panose="02040503050406030204" pitchFamily="18" charset="0"/>
                        <a:cs typeface="Arial" panose="020B0604020202020204" pitchFamily="34" charset="0"/>
                      </a:rPr>
                      <m:t>𝑁</m:t>
                    </m:r>
                    <m:d>
                      <m:dPr>
                        <m:ctrlPr>
                          <a:rPr lang="en-US" sz="2200" i="1" dirty="0">
                            <a:solidFill>
                              <a:schemeClr val="tx1"/>
                            </a:solidFill>
                            <a:latin typeface="Cambria Math" panose="02040503050406030204" pitchFamily="18" charset="0"/>
                            <a:cs typeface="Arial" panose="020B0604020202020204" pitchFamily="34" charset="0"/>
                          </a:rPr>
                        </m:ctrlPr>
                      </m:dPr>
                      <m:e>
                        <m:r>
                          <a:rPr lang="en-US" sz="2200" i="1" dirty="0">
                            <a:solidFill>
                              <a:schemeClr val="tx1"/>
                            </a:solidFill>
                            <a:latin typeface="Cambria Math" panose="02040503050406030204" pitchFamily="18" charset="0"/>
                            <a:cs typeface="Arial" panose="020B0604020202020204" pitchFamily="34" charset="0"/>
                          </a:rPr>
                          <m:t>𝑑</m:t>
                        </m:r>
                      </m:e>
                    </m:d>
                  </m:oMath>
                </a14:m>
                <a:r>
                  <a:rPr lang="en-US" sz="2200">
                    <a:solidFill>
                      <a:schemeClr val="tx1"/>
                    </a:solidFill>
                    <a:latin typeface="Arial" panose="020B0604020202020204" pitchFamily="34" charset="0"/>
                    <a:cs typeface="Arial" panose="020B0604020202020204" pitchFamily="34" charset="0"/>
                  </a:rPr>
                  <a:t>:  total number of cells in layer </a:t>
                </a:r>
                <a14:m>
                  <m:oMath xmlns:m="http://schemas.openxmlformats.org/officeDocument/2006/math">
                    <m:r>
                      <a:rPr lang="en-US" sz="2200" i="1" dirty="0">
                        <a:solidFill>
                          <a:schemeClr val="tx1"/>
                        </a:solidFill>
                        <a:latin typeface="Cambria Math" panose="02040503050406030204" pitchFamily="18" charset="0"/>
                        <a:cs typeface="Arial" panose="020B0604020202020204" pitchFamily="34" charset="0"/>
                      </a:rPr>
                      <m:t>𝑑</m:t>
                    </m:r>
                  </m:oMath>
                </a14:m>
                <a:r>
                  <a:rPr lang="en-US" sz="2200">
                    <a:solidFill>
                      <a:schemeClr val="tx1"/>
                    </a:solidFill>
                    <a:latin typeface="Arial" panose="020B0604020202020204" pitchFamily="34" charset="0"/>
                    <a:cs typeface="Arial" panose="020B0604020202020204" pitchFamily="34" charset="0"/>
                  </a:rPr>
                  <a:t>.</a:t>
                </a:r>
              </a:p>
              <a:p>
                <a:endParaRPr lang="en-US" sz="2200">
                  <a:solidFill>
                    <a:schemeClr val="tx1"/>
                  </a:solidFill>
                  <a:latin typeface="Arial" panose="020B0604020202020204" pitchFamily="34" charset="0"/>
                  <a:cs typeface="Arial" panose="020B0604020202020204" pitchFamily="34" charset="0"/>
                </a:endParaRPr>
              </a:p>
              <a:p>
                <a:r>
                  <a:rPr lang="en-US" sz="2200">
                    <a:solidFill>
                      <a:schemeClr val="tx1"/>
                    </a:solidFill>
                    <a:latin typeface="Arial" panose="020B0604020202020204" pitchFamily="34" charset="0"/>
                    <a:cs typeface="Arial" panose="020B0604020202020204" pitchFamily="34" charset="0"/>
                  </a:rPr>
                  <a:t>The H-plot is obtained by plotting as a function of </a:t>
                </a:r>
                <a14:m>
                  <m:oMath xmlns:m="http://schemas.openxmlformats.org/officeDocument/2006/math">
                    <m:r>
                      <a:rPr lang="en-US" sz="2200" i="1">
                        <a:solidFill>
                          <a:schemeClr val="tx1"/>
                        </a:solidFill>
                        <a:latin typeface="Cambria Math" panose="02040503050406030204" pitchFamily="18" charset="0"/>
                        <a:cs typeface="Arial" panose="020B0604020202020204" pitchFamily="34" charset="0"/>
                      </a:rPr>
                      <m:t>𝑃</m:t>
                    </m:r>
                    <m:d>
                      <m:dPr>
                        <m:ctrlPr>
                          <a:rPr lang="en-US" sz="2200" i="1">
                            <a:solidFill>
                              <a:schemeClr val="tx1"/>
                            </a:solidFill>
                            <a:latin typeface="Cambria Math" panose="02040503050406030204" pitchFamily="18" charset="0"/>
                            <a:cs typeface="Arial" panose="020B0604020202020204" pitchFamily="34" charset="0"/>
                          </a:rPr>
                        </m:ctrlPr>
                      </m:dPr>
                      <m:e>
                        <m:r>
                          <a:rPr lang="en-US" sz="2200" i="1">
                            <a:solidFill>
                              <a:schemeClr val="tx1"/>
                            </a:solidFill>
                            <a:latin typeface="Cambria Math" panose="02040503050406030204" pitchFamily="18" charset="0"/>
                            <a:cs typeface="Arial" panose="020B0604020202020204" pitchFamily="34" charset="0"/>
                          </a:rPr>
                          <m:t>𝑑</m:t>
                        </m:r>
                      </m:e>
                    </m:d>
                  </m:oMath>
                </a14:m>
                <a:r>
                  <a:rPr lang="en-US" sz="2200">
                    <a:solidFill>
                      <a:schemeClr val="tx1"/>
                    </a:solidFill>
                    <a:latin typeface="Arial" panose="020B0604020202020204" pitchFamily="34" charset="0"/>
                    <a:cs typeface="Arial" panose="020B0604020202020204" pitchFamily="34" charset="0"/>
                  </a:rPr>
                  <a:t> as the distance layer </a:t>
                </a:r>
                <a14:m>
                  <m:oMath xmlns:m="http://schemas.openxmlformats.org/officeDocument/2006/math">
                    <m:r>
                      <a:rPr lang="en-US" sz="2200" i="1" dirty="0">
                        <a:solidFill>
                          <a:schemeClr val="tx1"/>
                        </a:solidFill>
                        <a:latin typeface="Cambria Math" panose="02040503050406030204" pitchFamily="18" charset="0"/>
                        <a:cs typeface="Arial" panose="020B0604020202020204" pitchFamily="34" charset="0"/>
                      </a:rPr>
                      <m:t>𝑑</m:t>
                    </m:r>
                  </m:oMath>
                </a14:m>
                <a:r>
                  <a:rPr lang="en-US" sz="2200">
                    <a:solidFill>
                      <a:schemeClr val="tx1"/>
                    </a:solidFill>
                    <a:latin typeface="Arial" panose="020B0604020202020204" pitchFamily="34" charset="0"/>
                    <a:cs typeface="Arial" panose="020B0604020202020204" pitchFamily="34" charset="0"/>
                  </a:rPr>
                  <a:t>.</a:t>
                </a:r>
              </a:p>
            </p:txBody>
          </p:sp>
        </mc:Choice>
        <mc:Fallback xmlns="">
          <p:sp>
            <p:nvSpPr>
              <p:cNvPr id="3187" name="Rectangle 3186">
                <a:extLst>
                  <a:ext uri="{FF2B5EF4-FFF2-40B4-BE49-F238E27FC236}">
                    <a16:creationId xmlns:a16="http://schemas.microsoft.com/office/drawing/2014/main" id="{D1131360-1F55-6380-82D5-9EB04FB10A22}"/>
                  </a:ext>
                </a:extLst>
              </p:cNvPr>
              <p:cNvSpPr>
                <a:spLocks noRot="1" noChangeAspect="1" noMove="1" noResize="1" noEditPoints="1" noAdjustHandles="1" noChangeArrowheads="1" noChangeShapeType="1" noTextEdit="1"/>
              </p:cNvSpPr>
              <p:nvPr/>
            </p:nvSpPr>
            <p:spPr bwMode="auto">
              <a:xfrm>
                <a:off x="1972331" y="27096572"/>
                <a:ext cx="10903058" cy="3678636"/>
              </a:xfrm>
              <a:prstGeom prst="rect">
                <a:avLst/>
              </a:prstGeom>
              <a:blipFill>
                <a:blip r:embed="rId17"/>
                <a:stretch>
                  <a:fillRect l="-581" t="-685" b="-2397"/>
                </a:stretch>
              </a:blipFill>
              <a:ln>
                <a:headEnd type="none" w="med" len="med"/>
                <a:tailEnd type="none" w="med" len="med"/>
              </a:ln>
            </p:spPr>
            <p:txBody>
              <a:bodyPr/>
              <a:lstStyle/>
              <a:p>
                <a:r>
                  <a:rPr lang="en-US">
                    <a:noFill/>
                  </a:rPr>
                  <a:t> </a:t>
                </a:r>
              </a:p>
            </p:txBody>
          </p:sp>
        </mc:Fallback>
      </mc:AlternateContent>
      <p:sp>
        <p:nvSpPr>
          <p:cNvPr id="3191" name="Down Arrow 3190">
            <a:extLst>
              <a:ext uri="{FF2B5EF4-FFF2-40B4-BE49-F238E27FC236}">
                <a16:creationId xmlns:a16="http://schemas.microsoft.com/office/drawing/2014/main" id="{D1FAF5E4-8B72-F525-AF9F-06572DE8D00D}"/>
              </a:ext>
            </a:extLst>
          </p:cNvPr>
          <p:cNvSpPr/>
          <p:nvPr/>
        </p:nvSpPr>
        <p:spPr bwMode="auto">
          <a:xfrm>
            <a:off x="6947058" y="16620806"/>
            <a:ext cx="953605" cy="396069"/>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193" name="Down Arrow 3192">
            <a:extLst>
              <a:ext uri="{FF2B5EF4-FFF2-40B4-BE49-F238E27FC236}">
                <a16:creationId xmlns:a16="http://schemas.microsoft.com/office/drawing/2014/main" id="{6DA4185B-7A1C-0FA1-5D56-CD0E5FC532D9}"/>
              </a:ext>
            </a:extLst>
          </p:cNvPr>
          <p:cNvSpPr/>
          <p:nvPr/>
        </p:nvSpPr>
        <p:spPr bwMode="auto">
          <a:xfrm>
            <a:off x="6947058" y="18590211"/>
            <a:ext cx="953605" cy="396069"/>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194" name="Down Arrow 3193">
            <a:extLst>
              <a:ext uri="{FF2B5EF4-FFF2-40B4-BE49-F238E27FC236}">
                <a16:creationId xmlns:a16="http://schemas.microsoft.com/office/drawing/2014/main" id="{518E4E35-EC79-E4D2-6DF6-AD0D32091BFF}"/>
              </a:ext>
            </a:extLst>
          </p:cNvPr>
          <p:cNvSpPr/>
          <p:nvPr/>
        </p:nvSpPr>
        <p:spPr bwMode="auto">
          <a:xfrm>
            <a:off x="6947058" y="20559616"/>
            <a:ext cx="953605" cy="396069"/>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196" name="Down Arrow 3195">
            <a:extLst>
              <a:ext uri="{FF2B5EF4-FFF2-40B4-BE49-F238E27FC236}">
                <a16:creationId xmlns:a16="http://schemas.microsoft.com/office/drawing/2014/main" id="{C927035A-8333-135F-AAEC-C62330D466B0}"/>
              </a:ext>
            </a:extLst>
          </p:cNvPr>
          <p:cNvSpPr/>
          <p:nvPr/>
        </p:nvSpPr>
        <p:spPr bwMode="auto">
          <a:xfrm>
            <a:off x="6947058" y="22529021"/>
            <a:ext cx="953605" cy="396069"/>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197" name="Down Arrow 3196">
            <a:extLst>
              <a:ext uri="{FF2B5EF4-FFF2-40B4-BE49-F238E27FC236}">
                <a16:creationId xmlns:a16="http://schemas.microsoft.com/office/drawing/2014/main" id="{3C7CF7ED-A3A1-7AB9-9800-5F4E4C1965B6}"/>
              </a:ext>
            </a:extLst>
          </p:cNvPr>
          <p:cNvSpPr/>
          <p:nvPr/>
        </p:nvSpPr>
        <p:spPr bwMode="auto">
          <a:xfrm>
            <a:off x="6947058" y="24498426"/>
            <a:ext cx="953605" cy="396069"/>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198" name="Down Arrow 3197">
            <a:extLst>
              <a:ext uri="{FF2B5EF4-FFF2-40B4-BE49-F238E27FC236}">
                <a16:creationId xmlns:a16="http://schemas.microsoft.com/office/drawing/2014/main" id="{98266098-5258-50F0-88FF-9AC560959A18}"/>
              </a:ext>
            </a:extLst>
          </p:cNvPr>
          <p:cNvSpPr/>
          <p:nvPr/>
        </p:nvSpPr>
        <p:spPr bwMode="auto">
          <a:xfrm>
            <a:off x="6947058" y="26467831"/>
            <a:ext cx="953605" cy="396069"/>
          </a:xfrm>
          <a:prstGeom prst="down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201" name="TextBox 3200">
            <a:extLst>
              <a:ext uri="{FF2B5EF4-FFF2-40B4-BE49-F238E27FC236}">
                <a16:creationId xmlns:a16="http://schemas.microsoft.com/office/drawing/2014/main" id="{044DF98C-50EF-780F-0CD1-A8F7648CC19E}"/>
              </a:ext>
            </a:extLst>
          </p:cNvPr>
          <p:cNvSpPr txBox="1"/>
          <p:nvPr/>
        </p:nvSpPr>
        <p:spPr>
          <a:xfrm>
            <a:off x="15016298" y="5709321"/>
            <a:ext cx="7112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a</a:t>
            </a:r>
          </a:p>
        </p:txBody>
      </p:sp>
      <p:sp>
        <p:nvSpPr>
          <p:cNvPr id="3208" name="TextBox 3207">
            <a:extLst>
              <a:ext uri="{FF2B5EF4-FFF2-40B4-BE49-F238E27FC236}">
                <a16:creationId xmlns:a16="http://schemas.microsoft.com/office/drawing/2014/main" id="{9AC7E379-5DF5-86B1-BBF4-40E3B8E38CB9}"/>
              </a:ext>
            </a:extLst>
          </p:cNvPr>
          <p:cNvSpPr txBox="1"/>
          <p:nvPr/>
        </p:nvSpPr>
        <p:spPr>
          <a:xfrm>
            <a:off x="22918697" y="5709321"/>
            <a:ext cx="7112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b</a:t>
            </a:r>
          </a:p>
        </p:txBody>
      </p:sp>
      <p:sp>
        <p:nvSpPr>
          <p:cNvPr id="3212" name="TextBox 3211">
            <a:extLst>
              <a:ext uri="{FF2B5EF4-FFF2-40B4-BE49-F238E27FC236}">
                <a16:creationId xmlns:a16="http://schemas.microsoft.com/office/drawing/2014/main" id="{842F698C-056D-4AEE-2ABF-6BAFF409AEAC}"/>
              </a:ext>
            </a:extLst>
          </p:cNvPr>
          <p:cNvSpPr txBox="1"/>
          <p:nvPr/>
        </p:nvSpPr>
        <p:spPr>
          <a:xfrm>
            <a:off x="29726641" y="18101801"/>
            <a:ext cx="7112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a</a:t>
            </a:r>
          </a:p>
        </p:txBody>
      </p:sp>
      <p:sp>
        <p:nvSpPr>
          <p:cNvPr id="3215" name="TextBox 3214">
            <a:extLst>
              <a:ext uri="{FF2B5EF4-FFF2-40B4-BE49-F238E27FC236}">
                <a16:creationId xmlns:a16="http://schemas.microsoft.com/office/drawing/2014/main" id="{FD30DCDE-C1C1-405F-771C-54F6106CD1F1}"/>
              </a:ext>
            </a:extLst>
          </p:cNvPr>
          <p:cNvSpPr txBox="1"/>
          <p:nvPr/>
        </p:nvSpPr>
        <p:spPr>
          <a:xfrm>
            <a:off x="37033803" y="18232429"/>
            <a:ext cx="7112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b</a:t>
            </a:r>
          </a:p>
        </p:txBody>
      </p:sp>
      <p:sp>
        <p:nvSpPr>
          <p:cNvPr id="3283" name="TextBox 3282">
            <a:extLst>
              <a:ext uri="{FF2B5EF4-FFF2-40B4-BE49-F238E27FC236}">
                <a16:creationId xmlns:a16="http://schemas.microsoft.com/office/drawing/2014/main" id="{036BFAFC-74A5-2F83-C5BF-C7A98CDFEA0D}"/>
              </a:ext>
            </a:extLst>
          </p:cNvPr>
          <p:cNvSpPr txBox="1"/>
          <p:nvPr/>
        </p:nvSpPr>
        <p:spPr>
          <a:xfrm>
            <a:off x="29260800" y="24855754"/>
            <a:ext cx="13716000" cy="1785104"/>
          </a:xfrm>
          <a:prstGeom prst="rect">
            <a:avLst/>
          </a:prstGeom>
          <a:noFill/>
          <a:ln>
            <a:noFill/>
          </a:ln>
        </p:spPr>
        <p:txBody>
          <a:bodyPr wrap="square">
            <a:spAutoFit/>
          </a:bodyPr>
          <a:lstStyle/>
          <a:p>
            <a:pPr marL="457200" indent="-457200" algn="just">
              <a:buAutoNum type="alphaLcParenBoth"/>
            </a:pPr>
            <a:r>
              <a:rPr lang="en-US" sz="2200">
                <a:latin typeface="Arial" panose="020B0604020202020204" pitchFamily="34" charset="0"/>
                <a:cs typeface="Arial" panose="020B0604020202020204" pitchFamily="34" charset="0"/>
              </a:rPr>
              <a:t>H-plot for tumor samples stratified by treatment (Atezolizumab) response (Stable Disease-SD vs. relapse)  and pre vs. post treatment sample collection. The results suggest that more lymphocytes were mobilized to the tumor border post treatment in Stable Disease cases. On the other hand, the relapse cases presented less lymphocytes in general. </a:t>
            </a:r>
          </a:p>
          <a:p>
            <a:pPr marL="457200" indent="-457200" algn="just">
              <a:buAutoNum type="alphaLcParenBoth"/>
            </a:pPr>
            <a:r>
              <a:rPr lang="en-US" sz="2200">
                <a:latin typeface="Arial" panose="020B0604020202020204" pitchFamily="34" charset="0"/>
                <a:cs typeface="Arial" panose="020B0604020202020204" pitchFamily="34" charset="0"/>
              </a:rPr>
              <a:t>The AUC of H-plot showed significant  p-values differences comparing among these cases.</a:t>
            </a:r>
          </a:p>
        </p:txBody>
      </p:sp>
      <p:sp>
        <p:nvSpPr>
          <p:cNvPr id="7" name="TextBox 6">
            <a:extLst>
              <a:ext uri="{FF2B5EF4-FFF2-40B4-BE49-F238E27FC236}">
                <a16:creationId xmlns:a16="http://schemas.microsoft.com/office/drawing/2014/main" id="{2826526C-BE1B-3BC7-1DF7-64532DA3EC1B}"/>
              </a:ext>
            </a:extLst>
          </p:cNvPr>
          <p:cNvSpPr txBox="1"/>
          <p:nvPr/>
        </p:nvSpPr>
        <p:spPr>
          <a:xfrm>
            <a:off x="863601" y="3318268"/>
            <a:ext cx="4385302" cy="1200329"/>
          </a:xfrm>
          <a:prstGeom prst="rect">
            <a:avLst/>
          </a:prstGeom>
          <a:noFill/>
        </p:spPr>
        <p:txBody>
          <a:bodyPr wrap="square">
            <a:spAutoFit/>
          </a:bodyPr>
          <a:lstStyle/>
          <a:p>
            <a:pPr lvl="0"/>
            <a:r>
              <a:rPr lang="en-US" sz="2400"/>
              <a:t>1. Pfizer, San Diego, CA 92121</a:t>
            </a:r>
          </a:p>
          <a:p>
            <a:pPr lvl="0"/>
            <a:r>
              <a:rPr lang="en-US" sz="2400"/>
              <a:t>2. Pfizer, Bothell, WA 98011</a:t>
            </a:r>
          </a:p>
          <a:p>
            <a:pPr lvl="0"/>
            <a:r>
              <a:rPr lang="en-US" sz="2400"/>
              <a:t>3. </a:t>
            </a:r>
            <a:r>
              <a:rPr lang="en-US" sz="2400" err="1"/>
              <a:t>Aignostics</a:t>
            </a:r>
            <a:r>
              <a:rPr lang="en-US" sz="2400"/>
              <a:t>, Berlin, Germany</a:t>
            </a:r>
          </a:p>
        </p:txBody>
      </p:sp>
      <p:sp>
        <p:nvSpPr>
          <p:cNvPr id="9" name="Rectangle 8">
            <a:extLst>
              <a:ext uri="{FF2B5EF4-FFF2-40B4-BE49-F238E27FC236}">
                <a16:creationId xmlns:a16="http://schemas.microsoft.com/office/drawing/2014/main" id="{B40EF375-6EC9-42D3-4C79-205B419B5C80}"/>
              </a:ext>
            </a:extLst>
          </p:cNvPr>
          <p:cNvSpPr/>
          <p:nvPr/>
        </p:nvSpPr>
        <p:spPr bwMode="auto">
          <a:xfrm>
            <a:off x="39002676" y="31577175"/>
            <a:ext cx="3656893" cy="61952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
        <p:nvSpPr>
          <p:cNvPr id="58" name="TextBox 57">
            <a:extLst>
              <a:ext uri="{FF2B5EF4-FFF2-40B4-BE49-F238E27FC236}">
                <a16:creationId xmlns:a16="http://schemas.microsoft.com/office/drawing/2014/main" id="{9A83C691-19A6-F5A8-B30A-D51A22B1F3A5}"/>
              </a:ext>
            </a:extLst>
          </p:cNvPr>
          <p:cNvSpPr txBox="1"/>
          <p:nvPr/>
        </p:nvSpPr>
        <p:spPr>
          <a:xfrm>
            <a:off x="15272831" y="21562705"/>
            <a:ext cx="7112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b</a:t>
            </a:r>
          </a:p>
        </p:txBody>
      </p:sp>
      <p:sp>
        <p:nvSpPr>
          <p:cNvPr id="3144" name="TextBox 3143">
            <a:extLst>
              <a:ext uri="{FF2B5EF4-FFF2-40B4-BE49-F238E27FC236}">
                <a16:creationId xmlns:a16="http://schemas.microsoft.com/office/drawing/2014/main" id="{1125B44B-EAB4-405F-ECCF-01EC73605158}"/>
              </a:ext>
            </a:extLst>
          </p:cNvPr>
          <p:cNvSpPr txBox="1"/>
          <p:nvPr/>
        </p:nvSpPr>
        <p:spPr>
          <a:xfrm>
            <a:off x="22141213" y="21562705"/>
            <a:ext cx="7112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c</a:t>
            </a:r>
          </a:p>
        </p:txBody>
      </p:sp>
      <p:sp>
        <p:nvSpPr>
          <p:cNvPr id="3209" name="TextBox 3208">
            <a:extLst>
              <a:ext uri="{FF2B5EF4-FFF2-40B4-BE49-F238E27FC236}">
                <a16:creationId xmlns:a16="http://schemas.microsoft.com/office/drawing/2014/main" id="{FAC8EBD1-49AC-534F-2564-66169534C1F5}"/>
              </a:ext>
            </a:extLst>
          </p:cNvPr>
          <p:cNvSpPr txBox="1"/>
          <p:nvPr/>
        </p:nvSpPr>
        <p:spPr>
          <a:xfrm>
            <a:off x="29664777" y="5636134"/>
            <a:ext cx="7112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a</a:t>
            </a:r>
          </a:p>
        </p:txBody>
      </p:sp>
      <p:sp>
        <p:nvSpPr>
          <p:cNvPr id="3210" name="TextBox 3209">
            <a:extLst>
              <a:ext uri="{FF2B5EF4-FFF2-40B4-BE49-F238E27FC236}">
                <a16:creationId xmlns:a16="http://schemas.microsoft.com/office/drawing/2014/main" id="{98832303-FD6F-3FDF-98AA-267C71FEDD4D}"/>
              </a:ext>
            </a:extLst>
          </p:cNvPr>
          <p:cNvSpPr txBox="1"/>
          <p:nvPr/>
        </p:nvSpPr>
        <p:spPr>
          <a:xfrm>
            <a:off x="36578219" y="5622831"/>
            <a:ext cx="7112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b</a:t>
            </a:r>
          </a:p>
        </p:txBody>
      </p:sp>
      <p:sp>
        <p:nvSpPr>
          <p:cNvPr id="57" name="TextBox 56">
            <a:extLst>
              <a:ext uri="{FF2B5EF4-FFF2-40B4-BE49-F238E27FC236}">
                <a16:creationId xmlns:a16="http://schemas.microsoft.com/office/drawing/2014/main" id="{D0F1924E-D56B-6377-6399-0D9CB39F2BA4}"/>
              </a:ext>
            </a:extLst>
          </p:cNvPr>
          <p:cNvSpPr txBox="1"/>
          <p:nvPr/>
        </p:nvSpPr>
        <p:spPr>
          <a:xfrm>
            <a:off x="18842190" y="15933305"/>
            <a:ext cx="711200" cy="523220"/>
          </a:xfrm>
          <a:prstGeom prst="rect">
            <a:avLst/>
          </a:prstGeom>
          <a:noFill/>
        </p:spPr>
        <p:txBody>
          <a:bodyPr wrap="square" rtlCol="0">
            <a:spAutoFit/>
          </a:bodyPr>
          <a:lstStyle/>
          <a:p>
            <a:r>
              <a:rPr lang="en-US" sz="2800" b="1">
                <a:latin typeface="Arial" panose="020B0604020202020204" pitchFamily="34" charset="0"/>
                <a:cs typeface="Arial" panose="020B0604020202020204" pitchFamily="34" charset="0"/>
              </a:rPr>
              <a:t>a</a:t>
            </a:r>
          </a:p>
        </p:txBody>
      </p:sp>
      <p:pic>
        <p:nvPicPr>
          <p:cNvPr id="3" name="Picture 2" descr="A qr code on a white background&#10;&#10;AI-generated content may be incorrect.">
            <a:extLst>
              <a:ext uri="{FF2B5EF4-FFF2-40B4-BE49-F238E27FC236}">
                <a16:creationId xmlns:a16="http://schemas.microsoft.com/office/drawing/2014/main" id="{FBEFCBB1-1C02-829C-BF12-3E9F539440F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6661256" y="27869926"/>
            <a:ext cx="2939563" cy="2939563"/>
          </a:xfrm>
          <a:prstGeom prst="rect">
            <a:avLst/>
          </a:prstGeom>
        </p:spPr>
      </p:pic>
      <p:sp>
        <p:nvSpPr>
          <p:cNvPr id="5" name="Rectangle 114">
            <a:extLst>
              <a:ext uri="{FF2B5EF4-FFF2-40B4-BE49-F238E27FC236}">
                <a16:creationId xmlns:a16="http://schemas.microsoft.com/office/drawing/2014/main" id="{48D041A8-F825-8F51-1361-5C032FA511E1}"/>
              </a:ext>
            </a:extLst>
          </p:cNvPr>
          <p:cNvSpPr>
            <a:spLocks noChangeArrowheads="1"/>
          </p:cNvSpPr>
          <p:nvPr/>
        </p:nvSpPr>
        <p:spPr bwMode="auto">
          <a:xfrm>
            <a:off x="32732302" y="30701357"/>
            <a:ext cx="3439516" cy="619521"/>
          </a:xfrm>
          <a:prstGeom prst="rect">
            <a:avLst/>
          </a:prstGeom>
          <a:noFill/>
          <a:ln>
            <a:noFill/>
          </a:ln>
        </p:spPr>
        <p:txBody>
          <a:bodyPr lIns="263347" rIns="263347" anchor="ctr"/>
          <a:lstStyle>
            <a:lvl1pPr defTabSz="4702175">
              <a:defRPr sz="2400">
                <a:solidFill>
                  <a:schemeClr val="tx1"/>
                </a:solidFill>
                <a:latin typeface="Times New Roman" panose="02020603050405020304" pitchFamily="18" charset="0"/>
              </a:defRPr>
            </a:lvl1pPr>
            <a:lvl2pPr marL="742950" indent="-285750" defTabSz="4702175">
              <a:defRPr sz="2400">
                <a:solidFill>
                  <a:schemeClr val="tx1"/>
                </a:solidFill>
                <a:latin typeface="Times New Roman" panose="02020603050405020304" pitchFamily="18" charset="0"/>
              </a:defRPr>
            </a:lvl2pPr>
            <a:lvl3pPr marL="1143000" indent="-228600" defTabSz="4702175">
              <a:defRPr sz="2400">
                <a:solidFill>
                  <a:schemeClr val="tx1"/>
                </a:solidFill>
                <a:latin typeface="Times New Roman" panose="02020603050405020304" pitchFamily="18" charset="0"/>
              </a:defRPr>
            </a:lvl3pPr>
            <a:lvl4pPr marL="1600200" indent="-228600" defTabSz="4702175">
              <a:defRPr sz="2400">
                <a:solidFill>
                  <a:schemeClr val="tx1"/>
                </a:solidFill>
                <a:latin typeface="Times New Roman" panose="02020603050405020304" pitchFamily="18" charset="0"/>
              </a:defRPr>
            </a:lvl4pPr>
            <a:lvl5pPr marL="2057400" indent="-228600" defTabSz="4702175">
              <a:defRPr sz="2400">
                <a:solidFill>
                  <a:schemeClr val="tx1"/>
                </a:solidFill>
                <a:latin typeface="Times New Roman" panose="02020603050405020304" pitchFamily="18" charset="0"/>
              </a:defRPr>
            </a:lvl5pPr>
            <a:lvl6pPr marL="2514600" indent="-228600" defTabSz="4702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702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702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702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a:latin typeface="Arial" panose="020B0604020202020204" pitchFamily="34" charset="0"/>
                <a:cs typeface="Arial" panose="020B0604020202020204" pitchFamily="34" charset="0"/>
              </a:rPr>
              <a:t>H-Plot</a:t>
            </a:r>
          </a:p>
        </p:txBody>
      </p:sp>
      <p:sp>
        <p:nvSpPr>
          <p:cNvPr id="6" name="Rectangle 114">
            <a:extLst>
              <a:ext uri="{FF2B5EF4-FFF2-40B4-BE49-F238E27FC236}">
                <a16:creationId xmlns:a16="http://schemas.microsoft.com/office/drawing/2014/main" id="{B2214F35-D662-6A73-EC13-AA858EB3A2F2}"/>
              </a:ext>
            </a:extLst>
          </p:cNvPr>
          <p:cNvSpPr>
            <a:spLocks noChangeArrowheads="1"/>
          </p:cNvSpPr>
          <p:nvPr/>
        </p:nvSpPr>
        <p:spPr bwMode="auto">
          <a:xfrm>
            <a:off x="36411279" y="30701358"/>
            <a:ext cx="3439516" cy="619521"/>
          </a:xfrm>
          <a:prstGeom prst="rect">
            <a:avLst/>
          </a:prstGeom>
          <a:noFill/>
          <a:ln>
            <a:noFill/>
          </a:ln>
        </p:spPr>
        <p:txBody>
          <a:bodyPr lIns="263347" rIns="263347" anchor="ctr"/>
          <a:lstStyle>
            <a:lvl1pPr defTabSz="4702175">
              <a:defRPr sz="2400">
                <a:solidFill>
                  <a:schemeClr val="tx1"/>
                </a:solidFill>
                <a:latin typeface="Times New Roman" panose="02020603050405020304" pitchFamily="18" charset="0"/>
              </a:defRPr>
            </a:lvl1pPr>
            <a:lvl2pPr marL="742950" indent="-285750" defTabSz="4702175">
              <a:defRPr sz="2400">
                <a:solidFill>
                  <a:schemeClr val="tx1"/>
                </a:solidFill>
                <a:latin typeface="Times New Roman" panose="02020603050405020304" pitchFamily="18" charset="0"/>
              </a:defRPr>
            </a:lvl2pPr>
            <a:lvl3pPr marL="1143000" indent="-228600" defTabSz="4702175">
              <a:defRPr sz="2400">
                <a:solidFill>
                  <a:schemeClr val="tx1"/>
                </a:solidFill>
                <a:latin typeface="Times New Roman" panose="02020603050405020304" pitchFamily="18" charset="0"/>
              </a:defRPr>
            </a:lvl3pPr>
            <a:lvl4pPr marL="1600200" indent="-228600" defTabSz="4702175">
              <a:defRPr sz="2400">
                <a:solidFill>
                  <a:schemeClr val="tx1"/>
                </a:solidFill>
                <a:latin typeface="Times New Roman" panose="02020603050405020304" pitchFamily="18" charset="0"/>
              </a:defRPr>
            </a:lvl4pPr>
            <a:lvl5pPr marL="2057400" indent="-228600" defTabSz="4702175">
              <a:defRPr sz="2400">
                <a:solidFill>
                  <a:schemeClr val="tx1"/>
                </a:solidFill>
                <a:latin typeface="Times New Roman" panose="02020603050405020304" pitchFamily="18" charset="0"/>
              </a:defRPr>
            </a:lvl5pPr>
            <a:lvl6pPr marL="2514600" indent="-228600" defTabSz="4702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702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702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702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err="1">
                <a:latin typeface="Arial" panose="020B0604020202020204" pitchFamily="34" charset="0"/>
                <a:cs typeface="Arial" panose="020B0604020202020204" pitchFamily="34" charset="0"/>
              </a:rPr>
              <a:t>WSInsight</a:t>
            </a:r>
            <a:endParaRPr lang="en-US" altLang="en-US" sz="2800">
              <a:latin typeface="Arial" panose="020B0604020202020204" pitchFamily="34" charset="0"/>
              <a:cs typeface="Arial" panose="020B0604020202020204" pitchFamily="34" charset="0"/>
            </a:endParaRPr>
          </a:p>
        </p:txBody>
      </p:sp>
      <p:pic>
        <p:nvPicPr>
          <p:cNvPr id="8" name="Graphic 7">
            <a:extLst>
              <a:ext uri="{FF2B5EF4-FFF2-40B4-BE49-F238E27FC236}">
                <a16:creationId xmlns:a16="http://schemas.microsoft.com/office/drawing/2014/main" id="{DB17231E-E8DD-08A4-0AEF-C006D1C2D4D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897744" y="31320878"/>
            <a:ext cx="4005838" cy="880264"/>
          </a:xfrm>
          <a:prstGeom prst="rect">
            <a:avLst/>
          </a:prstGeom>
        </p:spPr>
      </p:pic>
    </p:spTree>
  </p:cSld>
  <p:clrMapOvr>
    <a:masterClrMapping/>
  </p:clrMapOvr>
  <p:extLst>
    <p:ext uri="{6950BFC3-D8DA-4A85-94F7-54DA5524770B}">
      <p188:commentRel xmlns:p188="http://schemas.microsoft.com/office/powerpoint/2018/8/main" r:id="rId4"/>
    </p:ext>
  </p:extLs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osterSession-template">
  <a:themeElements>
    <a:clrScheme name="2021 Pfizer">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PosterSession-templat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PosterSession-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osterSession-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osterSession-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osterSession-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osterSession-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osterSession-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osterSession-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RDM_ScientificPosterTemplate_4x4.potx  -  Read-Only" id="{5DFA16FD-350E-4ECD-ABCF-555B563625DC}" vid="{9CDFB78F-408C-4C71-A700-7D0D6E446F4D}"/>
    </a:ext>
  </a:extLst>
</a:theme>
</file>

<file path=ppt/theme/theme2.xml><?xml version="1.0" encoding="utf-8"?>
<a:theme xmlns:a="http://schemas.openxmlformats.org/drawingml/2006/main" name="1_PosterSession-template">
  <a:themeElements>
    <a:clrScheme name="2021 Pfizer">
      <a:dk1>
        <a:srgbClr val="000000"/>
      </a:dk1>
      <a:lt1>
        <a:srgbClr val="FFFFFF"/>
      </a:lt1>
      <a:dk2>
        <a:srgbClr val="F49C34"/>
      </a:dk2>
      <a:lt2>
        <a:srgbClr val="F8DF5A"/>
      </a:lt2>
      <a:accent1>
        <a:srgbClr val="0000C9"/>
      </a:accent1>
      <a:accent2>
        <a:srgbClr val="0095FF"/>
      </a:accent2>
      <a:accent3>
        <a:srgbClr val="0DBDBA"/>
      </a:accent3>
      <a:accent4>
        <a:srgbClr val="67BB6E"/>
      </a:accent4>
      <a:accent5>
        <a:srgbClr val="9D73F7"/>
      </a:accent5>
      <a:accent6>
        <a:srgbClr val="D95776"/>
      </a:accent6>
      <a:hlink>
        <a:srgbClr val="0095FF"/>
      </a:hlink>
      <a:folHlink>
        <a:srgbClr val="A1AAB1"/>
      </a:folHlink>
    </a:clrScheme>
    <a:fontScheme name="PosterSession-templat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PosterSession-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osterSession-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osterSession-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osterSession-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osterSession-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osterSession-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osterSession-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RDM_ScientificPosterTemplate_4x4.potx  -  Read-Only" id="{5DFA16FD-350E-4ECD-ABCF-555B563625DC}" vid="{D165D9CA-9B71-419C-B7BB-C46A294DD4D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2EFDA83-372E-454C-9810-116FFD9B768E}">
  <we:reference id="c22bf5f7-55ef-4467-ac55-88a268666587" version="1.0.0.5" store="excatalog" storeType="EXCatalog"/>
  <we:alternateReferences/>
  <we:properties>
    <we:property name="pptx_export_from_biorender" value="false"/>
    <we:property name="has-user-completed-add" value="tru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E2B5C0D0B5B65488A685968BAB73D2B" ma:contentTypeVersion="9" ma:contentTypeDescription="Create a new document." ma:contentTypeScope="" ma:versionID="9f127736e2aca556eea941c1b23abf1a">
  <xsd:schema xmlns:xsd="http://www.w3.org/2001/XMLSchema" xmlns:xs="http://www.w3.org/2001/XMLSchema" xmlns:p="http://schemas.microsoft.com/office/2006/metadata/properties" xmlns:ns2="f4906faa-1766-44ce-bdb8-27517c5f7e86" targetNamespace="http://schemas.microsoft.com/office/2006/metadata/properties" ma:root="true" ma:fieldsID="8621a7e924100cc7e7d06dd54f9aa90a" ns2:_="">
    <xsd:import namespace="f4906faa-1766-44ce-bdb8-27517c5f7e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906faa-1766-44ce-bdb8-27517c5f7e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E01C9CA-8A34-4AAB-8200-FACBC5559176}">
  <ds:schemaRefs>
    <ds:schemaRef ds:uri="http://schemas.microsoft.com/office/2006/metadata/longProperties"/>
  </ds:schemaRefs>
</ds:datastoreItem>
</file>

<file path=customXml/itemProps2.xml><?xml version="1.0" encoding="utf-8"?>
<ds:datastoreItem xmlns:ds="http://schemas.openxmlformats.org/officeDocument/2006/customXml" ds:itemID="{9F14F3EA-5F99-4FF4-90A6-7B9EA351CACA}">
  <ds:schemaRefs>
    <ds:schemaRef ds:uri="http://schemas.microsoft.com/sharepoint/v3/contenttype/forms"/>
  </ds:schemaRefs>
</ds:datastoreItem>
</file>

<file path=customXml/itemProps3.xml><?xml version="1.0" encoding="utf-8"?>
<ds:datastoreItem xmlns:ds="http://schemas.openxmlformats.org/officeDocument/2006/customXml" ds:itemID="{75629737-BBE5-4DA1-93F4-D62188638883}">
  <ds:schemaRefs>
    <ds:schemaRef ds:uri="f4906faa-1766-44ce-bdb8-27517c5f7e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88418BE1-F3D9-493E-9B78-719DF0EF2CA8}">
  <ds:schemaRefs>
    <ds:schemaRef ds:uri="http://purl.org/dc/terms/"/>
    <ds:schemaRef ds:uri="http://purl.org/dc/dcmitype/"/>
    <ds:schemaRef ds:uri="http://purl.org/dc/elements/1.1/"/>
    <ds:schemaRef ds:uri="http://schemas.microsoft.com/office/2006/documentManagement/types"/>
    <ds:schemaRef ds:uri="http://www.w3.org/XML/1998/namespace"/>
    <ds:schemaRef ds:uri="http://schemas.openxmlformats.org/package/2006/metadata/core-properties"/>
    <ds:schemaRef ds:uri="http://schemas.microsoft.com/office/infopath/2007/PartnerControls"/>
    <ds:schemaRef ds:uri="f4906faa-1766-44ce-bdb8-27517c5f7e8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WRDM_ScientificPosterTemplate_4x4</Template>
  <TotalTime>0</TotalTime>
  <Words>1538</Words>
  <Application>Microsoft Macintosh PowerPoint</Application>
  <PresentationFormat>Custom</PresentationFormat>
  <Paragraphs>69</Paragraphs>
  <Slides>1</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9" baseType="lpstr">
      <vt:lpstr>Aptos</vt:lpstr>
      <vt:lpstr>Arial</vt:lpstr>
      <vt:lpstr>Calibri</vt:lpstr>
      <vt:lpstr>Cambria Math</vt:lpstr>
      <vt:lpstr>Times New Roman</vt:lpstr>
      <vt:lpstr>PosterSession-template</vt:lpstr>
      <vt:lpstr>1_PosterSession-template</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Parker, Elana G</dc:creator>
  <cp:lastModifiedBy>Huang, Chao-Hui</cp:lastModifiedBy>
  <cp:revision>1</cp:revision>
  <cp:lastPrinted>2026-03-16T19:25:55Z</cp:lastPrinted>
  <dcterms:created xsi:type="dcterms:W3CDTF">2022-09-07T16:15:59Z</dcterms:created>
  <dcterms:modified xsi:type="dcterms:W3CDTF">2026-05-21T02:37:56Z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Order">
    <vt:lpwstr>210400.000000000</vt:lpwstr>
  </property>
  <property fmtid="{D5CDD505-2E9C-101B-9397-08002B2CF9AE}" pid="4" name="ContentTypeId">
    <vt:lpwstr>0x010100AE2B5C0D0B5B65488A685968BAB73D2B</vt:lpwstr>
  </property>
  <property fmtid="{D5CDD505-2E9C-101B-9397-08002B2CF9AE}" pid="5" name="ComplianceAssetId">
    <vt:lpwstr/>
  </property>
  <property fmtid="{D5CDD505-2E9C-101B-9397-08002B2CF9AE}" pid="6" name="_activity">
    <vt:lpwstr>{"FileActivityType":"9","FileActivityTimeStamp":"2024-04-29T22:48:35.833Z","FileActivityUsersOnPage":[{"DisplayName":"Nameki, Robbin","Id":"ruther03@pfizer.com"}],"FileActivityNavigationId":null}</vt:lpwstr>
  </property>
  <property fmtid="{D5CDD505-2E9C-101B-9397-08002B2CF9AE}" pid="7" name="_ExtendedDescription">
    <vt:lpwstr/>
  </property>
  <property fmtid="{D5CDD505-2E9C-101B-9397-08002B2CF9AE}" pid="8" name="TriggerFlowInfo">
    <vt:lpwstr/>
  </property>
  <property fmtid="{D5CDD505-2E9C-101B-9397-08002B2CF9AE}" pid="9" name="MSIP_Label_4791b42f-c435-42ca-9531-75a3f42aae3d_Enabled">
    <vt:lpwstr>true</vt:lpwstr>
  </property>
  <property fmtid="{D5CDD505-2E9C-101B-9397-08002B2CF9AE}" pid="10" name="MSIP_Label_4791b42f-c435-42ca-9531-75a3f42aae3d_SetDate">
    <vt:lpwstr>2026-03-08T06:32:45Z</vt:lpwstr>
  </property>
  <property fmtid="{D5CDD505-2E9C-101B-9397-08002B2CF9AE}" pid="11" name="MSIP_Label_4791b42f-c435-42ca-9531-75a3f42aae3d_Method">
    <vt:lpwstr>Privileged</vt:lpwstr>
  </property>
  <property fmtid="{D5CDD505-2E9C-101B-9397-08002B2CF9AE}" pid="12" name="MSIP_Label_4791b42f-c435-42ca-9531-75a3f42aae3d_Name">
    <vt:lpwstr>4791b42f-c435-42ca-9531-75a3f42aae3d</vt:lpwstr>
  </property>
  <property fmtid="{D5CDD505-2E9C-101B-9397-08002B2CF9AE}" pid="13" name="MSIP_Label_4791b42f-c435-42ca-9531-75a3f42aae3d_SiteId">
    <vt:lpwstr>7a916015-20ae-4ad1-9170-eefd915e9272</vt:lpwstr>
  </property>
  <property fmtid="{D5CDD505-2E9C-101B-9397-08002B2CF9AE}" pid="14" name="MSIP_Label_4791b42f-c435-42ca-9531-75a3f42aae3d_ActionId">
    <vt:lpwstr>3afd9760-488c-4f79-a9fa-539ef9f2187c</vt:lpwstr>
  </property>
  <property fmtid="{D5CDD505-2E9C-101B-9397-08002B2CF9AE}" pid="15" name="MSIP_Label_4791b42f-c435-42ca-9531-75a3f42aae3d_ContentBits">
    <vt:lpwstr>0</vt:lpwstr>
  </property>
  <property fmtid="{D5CDD505-2E9C-101B-9397-08002B2CF9AE}" pid="16" name="MSIP_Label_4791b42f-c435-42ca-9531-75a3f42aae3d_Tag">
    <vt:lpwstr>50, 0, 1, 1</vt:lpwstr>
  </property>
</Properties>
</file>